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in Bhatta" userId="b6d9ad1ee625d9c1" providerId="LiveId" clId="{8B7C5281-C583-4B19-9272-2469D3C3B7BF}"/>
    <pc:docChg chg="undo custSel delSld modSld">
      <pc:chgData name="Aarin Bhatta" userId="b6d9ad1ee625d9c1" providerId="LiveId" clId="{8B7C5281-C583-4B19-9272-2469D3C3B7BF}" dt="2026-09-09T03:19:58.510" v="34" actId="20577"/>
      <pc:docMkLst>
        <pc:docMk/>
      </pc:docMkLst>
      <pc:sldChg chg="modSp mod">
        <pc:chgData name="Aarin Bhatta" userId="b6d9ad1ee625d9c1" providerId="LiveId" clId="{8B7C5281-C583-4B19-9272-2469D3C3B7BF}" dt="2026-09-09T03:10:55.371" v="2" actId="1036"/>
        <pc:sldMkLst>
          <pc:docMk/>
          <pc:sldMk cId="0" sldId="261"/>
        </pc:sldMkLst>
        <pc:spChg chg="mod">
          <ac:chgData name="Aarin Bhatta" userId="b6d9ad1ee625d9c1" providerId="LiveId" clId="{8B7C5281-C583-4B19-9272-2469D3C3B7BF}" dt="2026-09-09T03:10:55.371" v="2" actId="10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arin Bhatta" userId="b6d9ad1ee625d9c1" providerId="LiveId" clId="{8B7C5281-C583-4B19-9272-2469D3C3B7BF}" dt="2026-09-09T03:10:20.603" v="0" actId="20577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Aarin Bhatta" userId="b6d9ad1ee625d9c1" providerId="LiveId" clId="{8B7C5281-C583-4B19-9272-2469D3C3B7BF}" dt="2026-09-09T03:12:48.426" v="3" actId="1036"/>
        <pc:sldMkLst>
          <pc:docMk/>
          <pc:sldMk cId="0" sldId="263"/>
        </pc:sldMkLst>
        <pc:spChg chg="mod">
          <ac:chgData name="Aarin Bhatta" userId="b6d9ad1ee625d9c1" providerId="LiveId" clId="{8B7C5281-C583-4B19-9272-2469D3C3B7BF}" dt="2026-09-09T03:12:48.426" v="3" actId="1036"/>
          <ac:spMkLst>
            <pc:docMk/>
            <pc:sldMk cId="0" sldId="263"/>
            <ac:spMk id="2" creationId="{00000000-0000-0000-0000-000000000000}"/>
          </ac:spMkLst>
        </pc:spChg>
      </pc:sldChg>
      <pc:sldChg chg="delSp modSp mod">
        <pc:chgData name="Aarin Bhatta" userId="b6d9ad1ee625d9c1" providerId="LiveId" clId="{8B7C5281-C583-4B19-9272-2469D3C3B7BF}" dt="2026-09-09T03:14:35.134" v="8"/>
        <pc:sldMkLst>
          <pc:docMk/>
          <pc:sldMk cId="0" sldId="264"/>
        </pc:sldMkLst>
        <pc:spChg chg="mod">
          <ac:chgData name="Aarin Bhatta" userId="b6d9ad1ee625d9c1" providerId="LiveId" clId="{8B7C5281-C583-4B19-9272-2469D3C3B7BF}" dt="2026-09-09T03:14:33.432" v="6" actId="1036"/>
          <ac:spMkLst>
            <pc:docMk/>
            <pc:sldMk cId="0" sldId="264"/>
            <ac:spMk id="2" creationId="{00000000-0000-0000-0000-000000000000}"/>
          </ac:spMkLst>
        </pc:spChg>
        <pc:spChg chg="del">
          <ac:chgData name="Aarin Bhatta" userId="b6d9ad1ee625d9c1" providerId="LiveId" clId="{8B7C5281-C583-4B19-9272-2469D3C3B7BF}" dt="2026-09-09T03:14:27.273" v="4" actId="478"/>
          <ac:spMkLst>
            <pc:docMk/>
            <pc:sldMk cId="0" sldId="264"/>
            <ac:spMk id="12" creationId="{00000000-0000-0000-0000-000000000000}"/>
          </ac:spMkLst>
        </pc:spChg>
        <pc:spChg chg="del mod">
          <ac:chgData name="Aarin Bhatta" userId="b6d9ad1ee625d9c1" providerId="LiveId" clId="{8B7C5281-C583-4B19-9272-2469D3C3B7BF}" dt="2026-09-09T03:14:35.134" v="8"/>
          <ac:spMkLst>
            <pc:docMk/>
            <pc:sldMk cId="0" sldId="264"/>
            <ac:spMk id="13" creationId="{00000000-0000-0000-0000-000000000000}"/>
          </ac:spMkLst>
        </pc:spChg>
      </pc:sldChg>
      <pc:sldChg chg="del">
        <pc:chgData name="Aarin Bhatta" userId="b6d9ad1ee625d9c1" providerId="LiveId" clId="{8B7C5281-C583-4B19-9272-2469D3C3B7BF}" dt="2026-09-09T03:15:49.166" v="9" actId="2696"/>
        <pc:sldMkLst>
          <pc:docMk/>
          <pc:sldMk cId="0" sldId="267"/>
        </pc:sldMkLst>
      </pc:sldChg>
      <pc:sldChg chg="modSp mod">
        <pc:chgData name="Aarin Bhatta" userId="b6d9ad1ee625d9c1" providerId="LiveId" clId="{8B7C5281-C583-4B19-9272-2469D3C3B7BF}" dt="2026-09-09T03:17:31.099" v="10" actId="1035"/>
        <pc:sldMkLst>
          <pc:docMk/>
          <pc:sldMk cId="0" sldId="268"/>
        </pc:sldMkLst>
        <pc:spChg chg="mod">
          <ac:chgData name="Aarin Bhatta" userId="b6d9ad1ee625d9c1" providerId="LiveId" clId="{8B7C5281-C583-4B19-9272-2469D3C3B7BF}" dt="2026-09-09T03:17:31.099" v="10" actId="1035"/>
          <ac:spMkLst>
            <pc:docMk/>
            <pc:sldMk cId="0" sldId="268"/>
            <ac:spMk id="2" creationId="{00000000-0000-0000-0000-000000000000}"/>
          </ac:spMkLst>
        </pc:spChg>
      </pc:sldChg>
      <pc:sldChg chg="modSp mod">
        <pc:chgData name="Aarin Bhatta" userId="b6d9ad1ee625d9c1" providerId="LiveId" clId="{8B7C5281-C583-4B19-9272-2469D3C3B7BF}" dt="2026-09-09T03:19:58.510" v="34" actId="20577"/>
        <pc:sldMkLst>
          <pc:docMk/>
          <pc:sldMk cId="0" sldId="269"/>
        </pc:sldMkLst>
        <pc:spChg chg="mod">
          <ac:chgData name="Aarin Bhatta" userId="b6d9ad1ee625d9c1" providerId="LiveId" clId="{8B7C5281-C583-4B19-9272-2469D3C3B7BF}" dt="2026-09-09T03:19:58.510" v="34" actId="20577"/>
          <ac:spMkLst>
            <pc:docMk/>
            <pc:sldMk cId="0" sldId="26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F5A95-2C65-4C9F-97BD-DC8944966135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89374-DB61-4242-957C-01BB6771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72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89374-DB61-4242-957C-01BB67711E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992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2011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PROJECT REVIEW &amp; ARCHITECTURE DEFENSE</a:t>
            </a:r>
          </a:p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</a:defRPr>
            </a:pPr>
            <a:r>
              <a:t>The Self-Auditing Ledger</a:t>
            </a:r>
          </a:p>
          <a:p>
            <a:pPr>
              <a:defRPr sz="1800">
                <a:solidFill>
                  <a:srgbClr val="818CF8"/>
                </a:solidFill>
              </a:defRPr>
            </a:pPr>
            <a:r>
              <a:t>Temporal Graph Topology &amp; Hybrid Deep Learning for ERP Fraud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2514600" cy="16459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44805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Core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92040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Leakage-Free Temporal Graph Features + XGBoost/TGN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4297680"/>
            <a:ext cx="2514600" cy="16459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94176" y="44805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Key Innovation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4892040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Exact TreeSHAP + Reconstructed Neo4j Audit Paths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4297680"/>
            <a:ext cx="2514600" cy="16459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44805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4892040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Multi-Seed Chronological Splits on Real &amp; Synthetic Datasets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4297680"/>
            <a:ext cx="2514600" cy="16459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62288" y="44805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4892040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Feature Complete, Fully Tested &amp; Benchmark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8BDF8"/>
                </a:solidFill>
              </a:defRPr>
            </a:pPr>
            <a:r>
              <a:t>EXECUTIVE SUMMARY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The Core Problem &amp; The Defensible Scientific Claim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Moving from isolated row-level audits to time-constrained multi-hop relational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Problem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The Blindspot of Tabular ML: </a:t>
            </a:r>
            <a:r>
              <a:rPr>
                <a:solidFill>
                  <a:srgbClr val="94A3B8"/>
                </a:solidFill>
              </a:rPr>
              <a:t>Standard systems evaluate single transactions in isolation, missing systemic multi-hop fraud (circular laundering, mule fan-ins, lapping).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The 'Shadow Graph' Concept: </a:t>
            </a:r>
            <a:r>
              <a:rPr>
                <a:solidFill>
                  <a:srgbClr val="94A3B8"/>
                </a:solidFill>
              </a:rPr>
              <a:t>Transform transaction logs into a temporal network of accounts &amp; timestamped payments to capture network structure + order.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The Production Vision: </a:t>
            </a:r>
            <a:r>
              <a:rPr>
                <a:solidFill>
                  <a:srgbClr val="94A3B8"/>
                </a:solidFill>
              </a:rPr>
              <a:t>A real-time audit engine maintaining live graph state, flagging transactions instantly, and drawing suspicious subgraphs for investigators.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Practical Operational Need: </a:t>
            </a:r>
            <a:r>
              <a:rPr>
                <a:solidFill>
                  <a:srgbClr val="94A3B8"/>
                </a:solidFill>
              </a:rPr>
              <a:t>Compliance officers cannot audit 10,000 alerts; they need high-precision top-100 alerts with verifiable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The Rigorous Scientific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86000"/>
            <a:ext cx="47548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Hypothesis vs. Vision: </a:t>
            </a:r>
            <a:r>
              <a:rPr>
                <a:solidFill>
                  <a:srgbClr val="94A3B8"/>
                </a:solidFill>
              </a:rPr>
              <a:t>A production demo is the vision; the defensible scientific thesis is: 'Do temporal graph features add predictive lift over strong tabular baselines without leakage?'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Honest Evaluation Stance: </a:t>
            </a:r>
            <a:r>
              <a:rPr>
                <a:solidFill>
                  <a:srgbClr val="94A3B8"/>
                </a:solidFill>
              </a:rPr>
              <a:t>Committed up front to report findings transparently, including negative or conditional results rather than forced claims.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Spectrum-Based Proof: </a:t>
            </a:r>
            <a:r>
              <a:rPr>
                <a:solidFill>
                  <a:srgbClr val="94A3B8"/>
                </a:solidFill>
              </a:rPr>
              <a:t>Evaluated across datasets varying from sparse bipartite control graphs to dense cyclic networks to test where topology actually matters.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Outcome Preview: </a:t>
            </a:r>
            <a:r>
              <a:rPr>
                <a:solidFill>
                  <a:srgbClr val="94A3B8"/>
                </a:solidFill>
              </a:rPr>
              <a:t>Topology adds decisive lift (+11.7% PR-AUC) when structural headroom exists, while simpler density features outperform complex cycle detectors.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8BDF8"/>
                </a:solidFill>
              </a:defRPr>
            </a:pPr>
            <a:r>
              <a:t>AUDIT OF PRIOR WORK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Uncovering the Flaws in Shadow Graphs v1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The original codebase reported ~99.7% AUC, but deep architectural audit revealed severe leakage.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Finding 1: Zero Structural Importance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Contradicted by its Own Data: </a:t>
            </a:r>
            <a:r>
              <a:rPr>
                <a:solidFill>
                  <a:srgbClr val="94A3B8"/>
                </a:solidFill>
              </a:rPr>
              <a:t>On the flagship SAP ERP dataset, feature importance was 62% transaction amount and z-scores; deep topology scored exactly 0.0.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Five Silent Detectors: </a:t>
            </a:r>
            <a:r>
              <a:rPr>
                <a:solidFill>
                  <a:srgbClr val="94A3B8"/>
                </a:solidFill>
              </a:rPr>
              <a:t>Detectors for cycles, lapping, density, and rapid chains yielded zero signal in the final model despite heavy marketing claims.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Broken Entity Namespaces: </a:t>
            </a:r>
            <a:r>
              <a:rPr>
                <a:solidFill>
                  <a:srgbClr val="94A3B8"/>
                </a:solidFill>
              </a:rPr>
              <a:t>Senders and receivers were assigned separate node types (Account vs. Vendor), making circular payment loops structurally undetectable.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Unfair Hypothesis Test: </a:t>
            </a:r>
            <a:r>
              <a:rPr>
                <a:solidFill>
                  <a:srgbClr val="94A3B8"/>
                </a:solidFill>
              </a:rPr>
              <a:t>The core hypothesis was never given a fair test because the engine was flawed and disconnected from model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Finding 2: Catastrophic Data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86000"/>
            <a:ext cx="47548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Feature Look-Ahead (Leak A): </a:t>
            </a:r>
            <a:r>
              <a:rPr>
                <a:solidFill>
                  <a:srgbClr val="94A3B8"/>
                </a:solidFill>
              </a:rPr>
              <a:t>Graph detectors ran over the entire history; top features included 'time_to_next_transaction' (using tomorrow to predict today).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Global Statistics Leak: </a:t>
            </a:r>
            <a:r>
              <a:rPr>
                <a:solidFill>
                  <a:srgbClr val="94A3B8"/>
                </a:solidFill>
              </a:rPr>
              <a:t>Mean and z-score calculations used whole-dataset statistics rather than historical expanding/rolling windows.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Evaluation Protocol Flaws (Leak B): </a:t>
            </a:r>
            <a:r>
              <a:rPr>
                <a:solidFill>
                  <a:srgbClr val="94A3B8"/>
                </a:solidFill>
              </a:rPr>
              <a:t>Randomly shuffled StratifiedKFold cross-validation mixed past and future transactions into the same folds.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Compounded Imbalance Fixes: </a:t>
            </a:r>
            <a:r>
              <a:rPr>
                <a:solidFill>
                  <a:srgbClr val="94A3B8"/>
                </a:solidFill>
              </a:rPr>
              <a:t>Simultaneously combined SMOTE oversampling with XGBoost class weights, double-distorting gradient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8BDF8"/>
                </a:solidFill>
              </a:defRPr>
            </a:pPr>
            <a:r>
              <a:t>SCIENTIFIC RIGOR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The 6 Non-Negotiable Honesty Rules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Core principles instituted to ensure every reported metric is reproducible, leak-free, and audit-grade.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Rule 1: Single Imbalance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Use class weights OR focal loss, never both. Reject SMOTE outright for graph data (interpolating vectors creates non-physical 'half-cycles').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Rule 2: Validation-Tuned Cutoff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Never evaluate at an arbitrary 0.5 threshold. The decision threshold is tuned strictly on validation data, then frozen for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9377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Rule 3: Chronological Time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349240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Train on earlier periods, validate in the middle, test on latest. Randomly shuffled k-fold splits are strictly prohibited.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120640" cy="13716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Rule 4: Zero Graph Look-Ahead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40280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Transaction t only sees transactions with timestamp &lt;= t. Features update as-of transaction time; statistics use expanding past windows 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00400"/>
            <a:ext cx="5120640" cy="13716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3832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Rule 5: Operationally Honest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94760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PR-AUC (Average Precision) is primary for 0.1% rare fraud. Report Precision@100 to reflect realistic daily auditor caseloads.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54880"/>
            <a:ext cx="5120640" cy="13716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49377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Rule 6: Strict Artifact Persistence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349240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Every experiment saves model weights, feature lists, fitted scalers, frozen thresholds, and evaluation manifests for exact reproducibility.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8BDF8"/>
                </a:solidFill>
              </a:defRPr>
            </a:pPr>
            <a:r>
              <a:t>ARCHITECTURE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The 7-Stage End-to-End Pipeline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Modular pipeline from raw transaction streams to explainable graph alerts.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41732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19786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1. Canonical ETL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06040"/>
            <a:ext cx="119786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Ingests raw ERP/bank CSVs. Unifies account namespaces into clean Account nodes &amp; directed Transaction edges.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76856" y="1645920"/>
            <a:ext cx="141732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86584" y="1828800"/>
            <a:ext cx="119786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2. Temporal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6584" y="2606040"/>
            <a:ext cx="119786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Constructs a chronological streaming network with millisecond/second order and canonical sequence indices.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2192" y="1645920"/>
            <a:ext cx="141732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0" y="1828800"/>
            <a:ext cx="119786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3. Topology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06040"/>
            <a:ext cx="119786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Past-only streaming calculation of multi-hop cycles, density, fan-in, burst, and rolling lapping memory.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67528" y="1645920"/>
            <a:ext cx="141732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77256" y="1828800"/>
            <a:ext cx="119786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4. Feature Assembly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7256" y="2606040"/>
            <a:ext cx="119786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Combines base transaction features (log amount, time deltas) + topology + self-supervised TGN embeddings.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2864" y="1645920"/>
            <a:ext cx="141732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22592" y="1828800"/>
            <a:ext cx="119786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5. Hybrid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2606040"/>
            <a:ext cx="119786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Class-weighted / Focal-loss XGBoost trained with time-aware cross-validation and validation HPO.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1645920"/>
            <a:ext cx="141732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67928" y="1828800"/>
            <a:ext cx="119786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6. Leakage-Free 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2606040"/>
            <a:ext cx="119786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Evaluates frozen models on unseen future test splits using PR-AUC, Precision@100, and multi-seed ablations.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03536" y="1645920"/>
            <a:ext cx="141732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13264" y="1828800"/>
            <a:ext cx="119786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7. Audit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13264" y="2606040"/>
            <a:ext cx="119786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Extracts exact TreeSHAP feature attributions and reconstructs concrete visual money paths in Neo4j.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274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8BDF8"/>
                </a:solidFill>
              </a:defRPr>
            </a:pPr>
            <a:r>
              <a:t>ENGINEERING &amp; TECH STACK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Decoupling Heavy Compute from Presentation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Eliminating OOM bottlenecks while preserving rich, intuitive investigation dashboards.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Core Architectural Decision: Compute vs.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663440" cy="18671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rPr b="1" dirty="0">
                <a:solidFill>
                  <a:srgbClr val="F8FAFC"/>
                </a:solidFill>
              </a:rPr>
              <a:t>The Neo4j OOM Bottleneck: </a:t>
            </a:r>
            <a:r>
              <a:rPr dirty="0">
                <a:solidFill>
                  <a:srgbClr val="94A3B8"/>
                </a:solidFill>
              </a:rPr>
              <a:t>v1 tried running complex graph analytics directly in Cypher over millions of rows, running out of memory and silently disabling features.</a:t>
            </a:r>
          </a:p>
          <a:p>
            <a:pPr>
              <a:spcAft>
                <a:spcPts val="800"/>
              </a:spcAft>
              <a:defRPr sz="1200"/>
            </a:pPr>
            <a:r>
              <a:rPr b="1" dirty="0">
                <a:solidFill>
                  <a:srgbClr val="F8FAFC"/>
                </a:solidFill>
              </a:rPr>
              <a:t>Python as the Compute Path: </a:t>
            </a:r>
            <a:r>
              <a:rPr dirty="0">
                <a:solidFill>
                  <a:srgbClr val="94A3B8"/>
                </a:solidFill>
              </a:rPr>
              <a:t>Pandas + </a:t>
            </a:r>
            <a:r>
              <a:rPr dirty="0" err="1">
                <a:solidFill>
                  <a:srgbClr val="94A3B8"/>
                </a:solidFill>
              </a:rPr>
              <a:t>NetworkX</a:t>
            </a:r>
            <a:r>
              <a:rPr dirty="0">
                <a:solidFill>
                  <a:srgbClr val="94A3B8"/>
                </a:solidFill>
              </a:rPr>
              <a:t>/custom sliding-window state machines execute the streaming topology engine in memory with deterministic speed and zero leakage.</a:t>
            </a:r>
          </a:p>
          <a:p>
            <a:pPr>
              <a:spcAft>
                <a:spcPts val="800"/>
              </a:spcAft>
              <a:defRPr sz="1200"/>
            </a:pPr>
            <a:r>
              <a:rPr b="1" dirty="0">
                <a:solidFill>
                  <a:srgbClr val="F8FAFC"/>
                </a:solidFill>
              </a:rPr>
              <a:t>Neo4j as the Presentation Path: </a:t>
            </a:r>
            <a:r>
              <a:rPr dirty="0">
                <a:solidFill>
                  <a:srgbClr val="94A3B8"/>
                </a:solidFill>
              </a:rPr>
              <a:t>Neo4j is reserved strictly for interactive visual demonstration, loading only alert subgraphs for investigator inspection.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818CF8"/>
                </a:solidFill>
              </a:defRPr>
            </a:pPr>
            <a:r>
              <a:t>Production 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86000"/>
            <a:ext cx="47548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Core Execution: </a:t>
            </a:r>
            <a:r>
              <a:rPr>
                <a:solidFill>
                  <a:srgbClr val="94A3B8"/>
                </a:solidFill>
              </a:rPr>
              <a:t>Python 3.14 — Unified environment for ETL, topology generation, modeling, and automated verification.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Data &amp; Feature Pipeline: </a:t>
            </a:r>
            <a:r>
              <a:rPr>
                <a:solidFill>
                  <a:srgbClr val="94A3B8"/>
                </a:solidFill>
              </a:rPr>
              <a:t>Pandas, NumPy, PyArrow — Vectorized data processing, streaming window graphs, and Parquet storage.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Champion ML Model: </a:t>
            </a:r>
            <a:r>
              <a:rPr>
                <a:solidFill>
                  <a:srgbClr val="94A3B8"/>
                </a:solidFill>
              </a:rPr>
              <a:t>XGBoost — Gradient-boosted trees with second-order optimization, native GPU/CPU acceleration, and exact TreeSHAP.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Deep Learning Component: </a:t>
            </a:r>
            <a:r>
              <a:rPr>
                <a:solidFill>
                  <a:srgbClr val="94A3B8"/>
                </a:solidFill>
              </a:rPr>
              <a:t>PyTorch — Lightweight Temporal Graph Network (TGN) embedding generator (32-dim GRU account memory).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Interactive Audit UI: </a:t>
            </a:r>
            <a:r>
              <a:rPr>
                <a:solidFill>
                  <a:srgbClr val="94A3B8"/>
                </a:solidFill>
              </a:rPr>
              <a:t>Neo4j 5.x &amp; Cypher — Browser-based visualization of flagged payment paths with canonical stream sequence matching.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Quality Assurance: </a:t>
            </a:r>
            <a:r>
              <a:rPr>
                <a:solidFill>
                  <a:srgbClr val="94A3B8"/>
                </a:solidFill>
              </a:rPr>
              <a:t>pytest &amp; custom property tests — Automated leakage validation and invariant assertion gates.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8BDF8"/>
                </a:solidFill>
              </a:defRPr>
            </a:pPr>
            <a:r>
              <a:t>DATA FOUNDATIONS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The Dataset Spectrum: Varying Graph Richness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Testing the hypothesis across distinct graph structures rather than a single favorable benchmark.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IBM 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173736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818CF8"/>
                </a:solidFill>
              </a:rPr>
              <a:t>Volume: </a:t>
            </a:r>
            <a:r>
              <a:rPr>
                <a:solidFill>
                  <a:srgbClr val="F8FAFC"/>
                </a:solidFill>
              </a:rPr>
              <a:t>1.32M Txns</a:t>
            </a:r>
          </a:p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818CF8"/>
                </a:solidFill>
              </a:rPr>
              <a:t>Fraud Rate: </a:t>
            </a:r>
            <a:r>
              <a:rPr>
                <a:solidFill>
                  <a:srgbClr val="F59E0B"/>
                </a:solidFill>
              </a:rPr>
              <a:t>0.13% Fraud</a:t>
            </a:r>
          </a:p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818CF8"/>
                </a:solidFill>
              </a:rPr>
              <a:t>Topology: </a:t>
            </a:r>
            <a:r>
              <a:rPr>
                <a:solidFill>
                  <a:srgbClr val="F8FAFC"/>
                </a:solidFill>
              </a:rPr>
              <a:t>Rich Directed Cycles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Decisive structural testbed; contains ground-truth laundering cycles and fan-in schemes.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645920"/>
            <a:ext cx="201168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36392" y="1828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BankSim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2194560"/>
            <a:ext cx="173736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818CF8"/>
                </a:solidFill>
              </a:rPr>
              <a:t>Volume: </a:t>
            </a:r>
            <a:r>
              <a:rPr>
                <a:solidFill>
                  <a:srgbClr val="F8FAFC"/>
                </a:solidFill>
              </a:rPr>
              <a:t>595k Txns</a:t>
            </a:r>
          </a:p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818CF8"/>
                </a:solidFill>
              </a:rPr>
              <a:t>Fraud Rate: </a:t>
            </a:r>
            <a:r>
              <a:rPr>
                <a:solidFill>
                  <a:srgbClr val="F59E0B"/>
                </a:solidFill>
              </a:rPr>
              <a:t>1.21% Fraud</a:t>
            </a:r>
          </a:p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818CF8"/>
                </a:solidFill>
              </a:rPr>
              <a:t>Topology: </a:t>
            </a:r>
            <a:r>
              <a:rPr>
                <a:solidFill>
                  <a:srgbClr val="F8FAFC"/>
                </a:solidFill>
              </a:rPr>
              <a:t>Bipartite (No Cycles)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Sparse control benchmark; customer-to-merchant graph where cycles are mathematically impossible.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645920"/>
            <a:ext cx="201168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12664" y="1828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SAP Würzburg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1224" y="2194560"/>
            <a:ext cx="173736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818CF8"/>
                </a:solidFill>
              </a:rPr>
              <a:t>Volume: </a:t>
            </a:r>
            <a:r>
              <a:rPr>
                <a:solidFill>
                  <a:srgbClr val="F8FAFC"/>
                </a:solidFill>
              </a:rPr>
              <a:t>200k Rows</a:t>
            </a:r>
          </a:p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818CF8"/>
                </a:solidFill>
              </a:rPr>
              <a:t>Fraud Rate: </a:t>
            </a:r>
            <a:r>
              <a:rPr>
                <a:solidFill>
                  <a:srgbClr val="F59E0B"/>
                </a:solidFill>
              </a:rPr>
              <a:t>0.12% Fraud</a:t>
            </a:r>
          </a:p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818CF8"/>
                </a:solidFill>
              </a:rPr>
              <a:t>Topology: </a:t>
            </a:r>
            <a:r>
              <a:rPr>
                <a:solidFill>
                  <a:srgbClr val="F8FAFC"/>
                </a:solidFill>
              </a:rPr>
              <a:t>Thin Document Hub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Authentic enterprise SAP ledger with 31 G/L accounts; realistic ERP structure with 25 test frauds.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645920"/>
            <a:ext cx="201168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88936" y="1828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PaySim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7496" y="2194560"/>
            <a:ext cx="173736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818CF8"/>
                </a:solidFill>
              </a:rPr>
              <a:t>Volume: </a:t>
            </a:r>
            <a:r>
              <a:rPr>
                <a:solidFill>
                  <a:srgbClr val="F8FAFC"/>
                </a:solidFill>
              </a:rPr>
              <a:t>6.36M Txns</a:t>
            </a:r>
          </a:p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818CF8"/>
                </a:solidFill>
              </a:rPr>
              <a:t>Fraud Rate: </a:t>
            </a:r>
            <a:r>
              <a:rPr>
                <a:solidFill>
                  <a:srgbClr val="F59E0B"/>
                </a:solidFill>
              </a:rPr>
              <a:t>0.13% Fraud</a:t>
            </a:r>
          </a:p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818CF8"/>
                </a:solidFill>
              </a:rPr>
              <a:t>Topology: </a:t>
            </a:r>
            <a:r>
              <a:rPr>
                <a:solidFill>
                  <a:srgbClr val="F8FAFC"/>
                </a:solidFill>
              </a:rPr>
              <a:t>Near-Tree Scale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High-volume mobile transfer network used for scalability benchmarking and memory profiling.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1645920"/>
            <a:ext cx="201168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65208" y="1828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synth_erp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2194560"/>
            <a:ext cx="173736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818CF8"/>
                </a:solidFill>
              </a:rPr>
              <a:t>Volume: </a:t>
            </a:r>
            <a:r>
              <a:rPr>
                <a:solidFill>
                  <a:srgbClr val="F8FAFC"/>
                </a:solidFill>
              </a:rPr>
              <a:t>1.15M Txns</a:t>
            </a:r>
          </a:p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818CF8"/>
                </a:solidFill>
              </a:rPr>
              <a:t>Fraud Rate: </a:t>
            </a:r>
            <a:r>
              <a:rPr>
                <a:solidFill>
                  <a:srgbClr val="F59E0B"/>
                </a:solidFill>
              </a:rPr>
              <a:t>0.49% Fraud</a:t>
            </a:r>
          </a:p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818CF8"/>
                </a:solidFill>
              </a:rPr>
              <a:t>Topology: </a:t>
            </a:r>
            <a:r>
              <a:rPr>
                <a:solidFill>
                  <a:srgbClr val="F8FAFC"/>
                </a:solidFill>
              </a:rPr>
              <a:t>Complex ERP Sim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In-house agent-based economic simulation (40 companies, 5 behavior-driven fraud typologies).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37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8BDF8"/>
                </a:solidFill>
              </a:defRPr>
            </a:pPr>
            <a:r>
              <a:t>FEATURE ENGINEERING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Dual-Engine: Handcrafted Topology &amp; Learned TGN Embeddings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Combining interpretable geometric fraud detectors with self-supervised temporal graph representations.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Engine A: Handcrafted Temporal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Directed Cycle Detectors: </a:t>
            </a:r>
            <a:r>
              <a:rPr>
                <a:solidFill>
                  <a:srgbClr val="94A3B8"/>
                </a:solidFill>
              </a:rPr>
              <a:t>Identifies closed loops within a sliding temporal window (e.g. 7-day trailing); measures loop tightness and amount conservation.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Density &amp; Fan-In / Fan-Out: </a:t>
            </a:r>
            <a:r>
              <a:rPr>
                <a:solidFill>
                  <a:srgbClr val="94A3B8"/>
                </a:solidFill>
              </a:rPr>
              <a:t>Measures rapid convergence of multiple distinct senders into a single receiver (mule collection) and explosive fan-outs.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Lapping Memory (LapMemory): </a:t>
            </a:r>
            <a:r>
              <a:rPr>
                <a:solidFill>
                  <a:srgbClr val="94A3B8"/>
                </a:solidFill>
              </a:rPr>
              <a:t>Rolling per-account memory detecting recurring near-equal payment amounts across shifting counterparty accounts.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Causal Attribution Guarantee: </a:t>
            </a:r>
            <a:r>
              <a:rPr>
                <a:solidFill>
                  <a:srgbClr val="94A3B8"/>
                </a:solidFill>
              </a:rPr>
              <a:t>Structural signals are credited strictly to the transaction that *completes* the structure, never retroactively to prior legs.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818CF8"/>
                </a:solidFill>
              </a:defRPr>
            </a:pPr>
            <a:r>
              <a:t>Engine B: Self-Supervised TGN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86000"/>
            <a:ext cx="47548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Dynamic Account Memory: </a:t>
            </a:r>
            <a:r>
              <a:rPr>
                <a:solidFill>
                  <a:srgbClr val="94A3B8"/>
                </a:solidFill>
              </a:rPr>
              <a:t>32-dimensional GRU memory per account continuously updated as transactions stream through the ledger.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Continuous Time Encoding: </a:t>
            </a:r>
            <a:r>
              <a:rPr>
                <a:solidFill>
                  <a:srgbClr val="94A3B8"/>
                </a:solidFill>
              </a:rPr>
              <a:t>Time2Vec-style temporal gap representations encode inter-transaction intervals continuously without binning.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Zero Look-Ahead &amp; Label-Free: </a:t>
            </a:r>
            <a:r>
              <a:rPr>
                <a:solidFill>
                  <a:srgbClr val="94A3B8"/>
                </a:solidFill>
              </a:rPr>
              <a:t>TGN embeddings are extracted *before* updating state; trained on self-supervised link prediction with zero fraud labels.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Amount-Blind Message Passing: </a:t>
            </a:r>
            <a:r>
              <a:rPr>
                <a:solidFill>
                  <a:srgbClr val="94A3B8"/>
                </a:solidFill>
              </a:rPr>
              <a:t>Embeddings process only connectivity structure and timestamps, ensuring orthogonal signal to transaction amounts.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37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8BDF8"/>
                </a:solidFill>
              </a:defRPr>
            </a:pPr>
            <a:r>
              <a:t>TECHNICAL PIVOTS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What We Tried, What Failed, and How We Adapted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Key discoveries, refutations, and empirical adaptations made during development.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55648"/>
            <a:ext cx="10271455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/>
            </a:pPr>
            <a:r>
              <a:rPr b="1">
                <a:solidFill>
                  <a:srgbClr val="F59E0B"/>
                </a:solidFill>
              </a:rPr>
              <a:t>Namespace Unification: </a:t>
            </a:r>
            <a:r>
              <a:rPr>
                <a:solidFill>
                  <a:srgbClr val="F8FAFC"/>
                </a:solidFill>
              </a:rPr>
              <a:t>Old ETL separated senders/receivers into distinct ID spaces. We unified them into one Account space, enabling 99.3% overlap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670048"/>
            <a:ext cx="10271455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/>
            </a:pPr>
            <a:r>
              <a:rPr b="1">
                <a:solidFill>
                  <a:srgbClr val="F59E0B"/>
                </a:solidFill>
              </a:rPr>
              <a:t>Focal Loss vs Class Weights: </a:t>
            </a:r>
            <a:r>
              <a:rPr>
                <a:solidFill>
                  <a:srgbClr val="F8FAFC"/>
                </a:solidFill>
              </a:rPr>
              <a:t>Class weights caused high seed-to-seed variance. Alpha-free Focal Loss (gamma=1-2) collapsed variance by orders of magnitude.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584448"/>
            <a:ext cx="10271455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/>
            </a:pPr>
            <a:r>
              <a:rPr b="1">
                <a:solidFill>
                  <a:srgbClr val="F59E0B"/>
                </a:solidFill>
              </a:rPr>
              <a:t>The Lapping Discovery: </a:t>
            </a:r>
            <a:r>
              <a:rPr>
                <a:solidFill>
                  <a:srgbClr val="F8FAFC"/>
                </a:solidFill>
              </a:rPr>
              <a:t>Lapping initially looked like a miracle feature. Probing revealed it was re-smuggling amount signals; we honestly reclassified it as amount-derived.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498848"/>
            <a:ext cx="10271455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/>
            </a:pPr>
            <a:r>
              <a:rPr b="1" dirty="0">
                <a:solidFill>
                  <a:srgbClr val="F59E0B"/>
                </a:solidFill>
              </a:rPr>
              <a:t>Cycles vs. Density: </a:t>
            </a:r>
            <a:r>
              <a:rPr dirty="0">
                <a:solidFill>
                  <a:srgbClr val="F8FAFC"/>
                </a:solidFill>
              </a:rPr>
              <a:t>Ablation proved cycle features are largely redundant with simple fan-in density (+0.001 lift). Cycles were retained for auditor explanation.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8BDF8"/>
                </a:solidFill>
              </a:defRPr>
            </a:pPr>
            <a:r>
              <a:t>EMPIRICAL RESULTS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Comprehensive Ablation &amp; Benchmark Performance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Results averaged over 3 random seeds on unseen test periods (mean ± std).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Dataset / Benchmark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Baseline (Ordinary)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+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Final Champion (TGN+Topo)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Precision@100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BankSim (Test Frauds: 1,320)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0.7870 ± 0.0700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0.9319 ± 0.0017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0.9364 ± 0.0015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1.0000 ± 0.0000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IBM AML (Test Frauds: 377)*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0.9920 ± 0.0026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1.0000 ± 0.0000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1.0000 ± 0.0000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1.0000 ± 0.0000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SAP Würzburg (Test Frauds: 25)**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0.1581 ± 0.0129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0.0717 ± 0.0095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0.1557 ± 0.0717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0.1033 ± 0.0262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synth_erp (Test Frauds: 1,093)***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0.2483 ± 0.0602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0.4569 ± 0.1547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0.7784 ± 0.0053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0.9900 ± 0.0000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6289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* IBM AML Note: Baseline is amount-saturated (~0.99); structural lift is cleanly evidenced in amount-blind probes (+0.090 lift).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** SAP Würzburg Note: Extremely rare test frauds (25 positive rows); flagged as statistically inconclusive per pre-registered protocol.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*** synth_erp Note: Synthetic economy with behavior-driven fraud; validates that learned TGN embeddings complement engineered topology (+0.321 lift).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8BDF8"/>
                </a:solidFill>
              </a:defRPr>
            </a:pPr>
            <a:r>
              <a:t>AUDITOR DELIVERABLES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Two-Layer Explainability: Exact SHAP + Visual Paths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Providing forensic investigators with quantitative risk drivers and visual topological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Layer 1: Quantitative Attribution (TreeSHAP)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Exact Game-Theoretic SHAP: </a:t>
            </a:r>
            <a:r>
              <a:rPr>
                <a:solidFill>
                  <a:srgbClr val="94A3B8"/>
                </a:solidFill>
              </a:rPr>
              <a:t>Native TreeSHAP computes exact Shapley values for XGBoost splits without sampling approximations.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Feature Family Tagging: </a:t>
            </a:r>
            <a:r>
              <a:rPr>
                <a:solidFill>
                  <a:srgbClr val="94A3B8"/>
                </a:solidFill>
              </a:rPr>
              <a:t>Scores are decomposed into tagged families: ordinary (amount), pure topology (density), amount-derived topology, and TGN.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Actionable Risk Breakdown: </a:t>
            </a:r>
            <a:r>
              <a:rPr>
                <a:solidFill>
                  <a:srgbClr val="94A3B8"/>
                </a:solidFill>
              </a:rPr>
              <a:t>Auditors see explicit explanations: '+0.76 risk due to 49 senders converging; +3.35 risk due to abnormal payment amount.'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Defensible Case Generation: </a:t>
            </a:r>
            <a:r>
              <a:rPr>
                <a:solidFill>
                  <a:srgbClr val="94A3B8"/>
                </a:solidFill>
              </a:rPr>
              <a:t>Enables rapid generation of compliance justification files for regulatory and law-enforcement escalation.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818CF8"/>
                </a:solidFill>
              </a:defRPr>
            </a:pPr>
            <a:r>
              <a:t>Layer 2: Visual Evidence Replay (Neo4j)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86000"/>
            <a:ext cx="47548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Concrete Subgraph Reconstruction: </a:t>
            </a:r>
            <a:r>
              <a:rPr>
                <a:solidFill>
                  <a:srgbClr val="94A3B8"/>
                </a:solidFill>
              </a:rPr>
              <a:t>For any flagged alert, the exact suspicious transaction path is replayed from graph memory.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Verified Cycle Evidence: </a:t>
            </a:r>
            <a:r>
              <a:rPr>
                <a:solidFill>
                  <a:srgbClr val="94A3B8"/>
                </a:solidFill>
              </a:rPr>
              <a:t>Cycle alerts show verified loops (e.g. 'closes 4-hop cycle A -&gt; B -&gt; C -&gt; A conserving 95% of funds over 48 hours').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Independent Neo4j Verification: </a:t>
            </a:r>
            <a:r>
              <a:rPr>
                <a:solidFill>
                  <a:srgbClr val="94A3B8"/>
                </a:solidFill>
              </a:rPr>
              <a:t>The automated demo tool re-derives paths in Neo4j via Cypher to cross-verify against internal Python features.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Empirical Precision: </a:t>
            </a:r>
            <a:r>
              <a:rPr>
                <a:solidFill>
                  <a:srgbClr val="94A3B8"/>
                </a:solidFill>
              </a:rPr>
              <a:t>Top-20 IBM AML alerts achieved 20/20 true fraud precision, including 8 machine-verified laundering cycles.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137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8BDF8"/>
                </a:solidFill>
              </a:defRPr>
            </a:pPr>
            <a:r>
              <a:t>LIMITATIONS &amp; ROADMAP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Transparent Scope Boundaries &amp; Next Milestones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Explicit disclosure of data boundaries and engineering paths forward.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Honest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IBM AML Amount Saturation: </a:t>
            </a:r>
            <a:r>
              <a:rPr>
                <a:solidFill>
                  <a:srgbClr val="94A3B8"/>
                </a:solidFill>
              </a:rPr>
              <a:t>IBM AML's simulator injected giveaway transaction amounts, saturating the baseline and limiting its power as a topology testbed.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Sample Size Constraints in Real ERP: </a:t>
            </a:r>
            <a:r>
              <a:rPr>
                <a:solidFill>
                  <a:srgbClr val="94A3B8"/>
                </a:solidFill>
              </a:rPr>
              <a:t>SAP Würzburg contains only 25 test frauds, making its metrics high-variance; we openly report it as inconclusive.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Temporal Window vs. Slow Fraud: </a:t>
            </a:r>
            <a:r>
              <a:rPr>
                <a:solidFill>
                  <a:srgbClr val="94A3B8"/>
                </a:solidFill>
              </a:rPr>
              <a:t>Fixed sliding windows (e.g. 7-14 days) target rapid fraud but could miss schemes staged over months.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Synthetic Data Governance: </a:t>
            </a:r>
            <a:r>
              <a:rPr>
                <a:solidFill>
                  <a:srgbClr val="94A3B8"/>
                </a:solidFill>
              </a:rPr>
              <a:t>synth_erp is used strictly for stress testing and pretraining; it is never claimed as primary thesis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Future Technical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86000"/>
            <a:ext cx="47548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FT-Transformer Challenger: </a:t>
            </a:r>
            <a:r>
              <a:rPr>
                <a:solidFill>
                  <a:srgbClr val="94A3B8"/>
                </a:solidFill>
              </a:rPr>
              <a:t>Benchmark tabular transformers pre-trained on synth_erp and fine-tuned on real ledgers under identical leakage rules.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Full-Scale PaySim Benchmark: </a:t>
            </a:r>
            <a:r>
              <a:rPr>
                <a:solidFill>
                  <a:srgbClr val="94A3B8"/>
                </a:solidFill>
              </a:rPr>
              <a:t>Execute end-to-end modeling across all 6.36 million PaySim transactions using distributed feature stores.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Streaming Production Inference: </a:t>
            </a:r>
            <a:r>
              <a:rPr>
                <a:solidFill>
                  <a:srgbClr val="94A3B8"/>
                </a:solidFill>
              </a:rPr>
              <a:t>Deploy TGN memory updates into real-time Kafka transaction streams for true sub-second scoring.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F8FAFC"/>
                </a:solidFill>
              </a:rPr>
              <a:t>Federated Multi-Bank Learning: </a:t>
            </a:r>
            <a:r>
              <a:rPr>
                <a:solidFill>
                  <a:srgbClr val="94A3B8"/>
                </a:solidFill>
              </a:rPr>
              <a:t>Implement FedProx protocols allowing multi-institution fraud detection without sharing raw customer banking records.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7720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8BDF8"/>
                </a:solidFill>
              </a:defRPr>
            </a:pPr>
            <a:r>
              <a:rPr dirty="0"/>
              <a:t>CONCLUSION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rPr dirty="0"/>
              <a:t>Key Project Takeaways </a:t>
            </a:r>
            <a:endParaRPr lang="en-US" dirty="0"/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lang="en-US" dirty="0"/>
              <a:t>Summary of research contributions, engineering achievements, and takeaways.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9601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10512"/>
            <a:ext cx="1018001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/>
            </a:pPr>
            <a:r>
              <a:rPr b="1">
                <a:solidFill>
                  <a:srgbClr val="34D399"/>
                </a:solidFill>
              </a:rPr>
              <a:t>1. The Scientific Hypothesis Holds
</a:t>
            </a:r>
            <a:r>
              <a:rPr>
                <a:solidFill>
                  <a:srgbClr val="F8FAFC"/>
                </a:solidFill>
              </a:rPr>
              <a:t>Temporal graph structure delivers real, leakage-free predictive lift (+11.7% PR-AUC on BankSim, +0.321 on synth_erp) when structural headroom exists.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728655" cy="9601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953512"/>
            <a:ext cx="1018001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/>
            </a:pPr>
            <a:r>
              <a:rPr b="1">
                <a:solidFill>
                  <a:srgbClr val="34D399"/>
                </a:solidFill>
              </a:rPr>
              <a:t>2. Simplicity Outperforms Complexity
</a:t>
            </a:r>
            <a:r>
              <a:rPr>
                <a:solidFill>
                  <a:srgbClr val="F8FAFC"/>
                </a:solidFill>
              </a:rPr>
              <a:t>Simple, robust structural density (fan-in / degree) captures the vast majority of fraud signal; complex cycle detectors serve primarily as explanations.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9601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096512"/>
            <a:ext cx="1018001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/>
            </a:pPr>
            <a:r>
              <a:rPr b="1">
                <a:solidFill>
                  <a:srgbClr val="34D399"/>
                </a:solidFill>
              </a:rPr>
              <a:t>3. Methodological Honesty is Non-Negotiable
</a:t>
            </a:r>
            <a:r>
              <a:rPr>
                <a:solidFill>
                  <a:srgbClr val="F8FAFC"/>
                </a:solidFill>
              </a:rPr>
              <a:t>Eliminating data leakage and reporting multi-seed metrics with PR-AUC separates genuine research from inflated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728655" cy="9601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5239512"/>
            <a:ext cx="1018001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/>
            </a:pPr>
            <a:r>
              <a:rPr b="1">
                <a:solidFill>
                  <a:srgbClr val="34D399"/>
                </a:solidFill>
              </a:rPr>
              <a:t>4. Production-Ready Hybrid Architecture
</a:t>
            </a:r>
            <a:r>
              <a:rPr>
                <a:solidFill>
                  <a:srgbClr val="F8FAFC"/>
                </a:solidFill>
              </a:rPr>
              <a:t>Combining learned TGN representations with XGBoost and Neo4j delivers deep learning power, tree robustness, and visual explainability.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2371</Words>
  <Application>Microsoft Office PowerPoint</Application>
  <PresentationFormat>Widescreen</PresentationFormat>
  <Paragraphs>196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Aarin Bhatta</cp:lastModifiedBy>
  <cp:revision>1</cp:revision>
  <dcterms:created xsi:type="dcterms:W3CDTF">2013-01-27T09:14:16Z</dcterms:created>
  <dcterms:modified xsi:type="dcterms:W3CDTF">2026-09-09T03:20:06Z</dcterms:modified>
  <cp:category/>
</cp:coreProperties>
</file>