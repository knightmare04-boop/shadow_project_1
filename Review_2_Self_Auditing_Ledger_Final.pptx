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manshu Ray" userId="b2c09a7c988a24d1" providerId="LiveId" clId="{1DA37C1D-4E73-4178-B854-823E7D859280}"/>
    <pc:docChg chg="modSld">
      <pc:chgData name="Himanshu Ray" userId="b2c09a7c988a24d1" providerId="LiveId" clId="{1DA37C1D-4E73-4178-B854-823E7D859280}" dt="2026-10-04T17:32:30.324" v="12" actId="1076"/>
      <pc:docMkLst>
        <pc:docMk/>
      </pc:docMkLst>
      <pc:sldChg chg="modSp mod">
        <pc:chgData name="Himanshu Ray" userId="b2c09a7c988a24d1" providerId="LiveId" clId="{1DA37C1D-4E73-4178-B854-823E7D859280}" dt="2026-10-04T17:30:36.408" v="2" actId="12"/>
        <pc:sldMkLst>
          <pc:docMk/>
          <pc:sldMk cId="2543518868" sldId="257"/>
        </pc:sldMkLst>
        <pc:spChg chg="mod">
          <ac:chgData name="Himanshu Ray" userId="b2c09a7c988a24d1" providerId="LiveId" clId="{1DA37C1D-4E73-4178-B854-823E7D859280}" dt="2026-10-04T17:30:36.408" v="2" actId="12"/>
          <ac:spMkLst>
            <pc:docMk/>
            <pc:sldMk cId="2543518868" sldId="257"/>
            <ac:spMk id="3" creationId="{4D68A428-04DA-E6A8-7606-5D2FE5F31C52}"/>
          </ac:spMkLst>
        </pc:spChg>
      </pc:sldChg>
      <pc:sldChg chg="modSp mod">
        <pc:chgData name="Himanshu Ray" userId="b2c09a7c988a24d1" providerId="LiveId" clId="{1DA37C1D-4E73-4178-B854-823E7D859280}" dt="2026-10-04T17:30:54.437" v="5" actId="12"/>
        <pc:sldMkLst>
          <pc:docMk/>
          <pc:sldMk cId="2623102820" sldId="260"/>
        </pc:sldMkLst>
        <pc:spChg chg="mod">
          <ac:chgData name="Himanshu Ray" userId="b2c09a7c988a24d1" providerId="LiveId" clId="{1DA37C1D-4E73-4178-B854-823E7D859280}" dt="2026-10-04T17:30:54.437" v="5" actId="12"/>
          <ac:spMkLst>
            <pc:docMk/>
            <pc:sldMk cId="2623102820" sldId="260"/>
            <ac:spMk id="3" creationId="{F07F8AC8-6380-9217-CA4C-1FBF1C25C60E}"/>
          </ac:spMkLst>
        </pc:spChg>
      </pc:sldChg>
      <pc:sldChg chg="modSp mod">
        <pc:chgData name="Himanshu Ray" userId="b2c09a7c988a24d1" providerId="LiveId" clId="{1DA37C1D-4E73-4178-B854-823E7D859280}" dt="2026-10-04T17:30:22.882" v="1" actId="1076"/>
        <pc:sldMkLst>
          <pc:docMk/>
          <pc:sldMk cId="1256560622" sldId="263"/>
        </pc:sldMkLst>
        <pc:spChg chg="mod">
          <ac:chgData name="Himanshu Ray" userId="b2c09a7c988a24d1" providerId="LiveId" clId="{1DA37C1D-4E73-4178-B854-823E7D859280}" dt="2026-10-04T17:30:22.882" v="1" actId="1076"/>
          <ac:spMkLst>
            <pc:docMk/>
            <pc:sldMk cId="1256560622" sldId="263"/>
            <ac:spMk id="3" creationId="{8233367C-DAD6-6E34-D21A-A981C09442F2}"/>
          </ac:spMkLst>
        </pc:spChg>
      </pc:sldChg>
      <pc:sldChg chg="modSp mod">
        <pc:chgData name="Himanshu Ray" userId="b2c09a7c988a24d1" providerId="LiveId" clId="{1DA37C1D-4E73-4178-B854-823E7D859280}" dt="2026-10-04T17:31:26.905" v="7" actId="1076"/>
        <pc:sldMkLst>
          <pc:docMk/>
          <pc:sldMk cId="3191299214" sldId="265"/>
        </pc:sldMkLst>
        <pc:spChg chg="mod">
          <ac:chgData name="Himanshu Ray" userId="b2c09a7c988a24d1" providerId="LiveId" clId="{1DA37C1D-4E73-4178-B854-823E7D859280}" dt="2026-10-04T17:31:26.905" v="7" actId="1076"/>
          <ac:spMkLst>
            <pc:docMk/>
            <pc:sldMk cId="3191299214" sldId="265"/>
            <ac:spMk id="3" creationId="{EEF324FF-B70A-2FC0-8FD0-C802E31DDBD0}"/>
          </ac:spMkLst>
        </pc:spChg>
      </pc:sldChg>
      <pc:sldChg chg="modSp mod">
        <pc:chgData name="Himanshu Ray" userId="b2c09a7c988a24d1" providerId="LiveId" clId="{1DA37C1D-4E73-4178-B854-823E7D859280}" dt="2026-10-04T17:31:46.387" v="10" actId="12"/>
        <pc:sldMkLst>
          <pc:docMk/>
          <pc:sldMk cId="3799870327" sldId="266"/>
        </pc:sldMkLst>
        <pc:spChg chg="mod">
          <ac:chgData name="Himanshu Ray" userId="b2c09a7c988a24d1" providerId="LiveId" clId="{1DA37C1D-4E73-4178-B854-823E7D859280}" dt="2026-10-04T17:31:46.387" v="10" actId="12"/>
          <ac:spMkLst>
            <pc:docMk/>
            <pc:sldMk cId="3799870327" sldId="266"/>
            <ac:spMk id="3" creationId="{A93F2560-A5FE-A724-8F39-E7E901E8FADC}"/>
          </ac:spMkLst>
        </pc:spChg>
      </pc:sldChg>
      <pc:sldChg chg="modSp mod">
        <pc:chgData name="Himanshu Ray" userId="b2c09a7c988a24d1" providerId="LiveId" clId="{1DA37C1D-4E73-4178-B854-823E7D859280}" dt="2026-10-04T17:32:30.324" v="12" actId="1076"/>
        <pc:sldMkLst>
          <pc:docMk/>
          <pc:sldMk cId="1317498737" sldId="268"/>
        </pc:sldMkLst>
        <pc:spChg chg="mod">
          <ac:chgData name="Himanshu Ray" userId="b2c09a7c988a24d1" providerId="LiveId" clId="{1DA37C1D-4E73-4178-B854-823E7D859280}" dt="2026-10-04T17:32:30.324" v="12" actId="1076"/>
          <ac:spMkLst>
            <pc:docMk/>
            <pc:sldMk cId="1317498737" sldId="268"/>
            <ac:spMk id="3" creationId="{004F33DD-84F0-A7F9-A1DC-A4DEA1A7D84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>
                <a:solidFill>
                  <a:srgbClr val="505050"/>
                </a:solidFill>
                <a:latin typeface="Times New Roman"/>
              </a:rPr>
              <a:t>B.Tech Computer Science and Engineering
Course Code: BCSE497J – Project-I (Review 2)</a:t>
            </a:r>
          </a:p>
          <a:p>
            <a:pPr>
              <a:spcBef>
                <a:spcPts val="400"/>
              </a:spcBef>
            </a:pPr>
            <a:r>
              <a:rPr sz="2100" b="1">
                <a:solidFill>
                  <a:srgbClr val="003366"/>
                </a:solidFill>
                <a:latin typeface="Times New Roman"/>
              </a:rPr>
              <a:t>The Self-Auditing Ledger: Fraud Detection in ERP Systems Using Temporal Graph Topology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r>
              <a:rPr sz="1400" b="1">
                <a:solidFill>
                  <a:srgbClr val="003366"/>
                </a:solidFill>
                <a:latin typeface="Times New Roman"/>
              </a:rPr>
              <a:t>Team members:</a:t>
            </a:r>
            <a:endParaRPr sz="1800" dirty="0">
              <a:latin typeface="Times New Roman"/>
              <a:cs typeface="Times New Roman"/>
            </a:endParaRP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E1E1E"/>
                </a:solidFill>
                <a:latin typeface="Times New Roman"/>
              </a:rPr>
              <a:t>• Aarin Bhatta  (23BCE2329)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E1E1E"/>
                </a:solidFill>
                <a:latin typeface="Times New Roman"/>
              </a:rPr>
              <a:t>• Himanshu Ray  (23BCE2335)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300">
                <a:solidFill>
                  <a:srgbClr val="1E1E1E"/>
                </a:solidFill>
                <a:latin typeface="Times New Roman"/>
              </a:rPr>
              <a:t>• Mohammed Akif  (23BCE2349)</a:t>
            </a:r>
          </a:p>
          <a:p>
            <a:pPr>
              <a:spcBef>
                <a:spcPts val="800"/>
              </a:spcBef>
            </a:pPr>
            <a:r>
              <a:rPr sz="1400" b="1">
                <a:solidFill>
                  <a:srgbClr val="003366"/>
                </a:solidFill>
                <a:latin typeface="Times New Roman"/>
              </a:rPr>
              <a:t>Faculty guide:</a:t>
            </a:r>
          </a:p>
          <a:p>
            <a:r>
              <a:rPr sz="1200">
                <a:solidFill>
                  <a:srgbClr val="1E1E1E"/>
                </a:solidFill>
                <a:latin typeface="Times New Roman"/>
              </a:rPr>
              <a:t>Prof. Dhivya C.R.
Department of Computational Intelligence, SCOPE
Vellore Institute of Technology, Vellore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439270" y="1393650"/>
            <a:ext cx="10515600" cy="600000"/>
          </a:xfrm>
        </p:spPr>
        <p:txBody>
          <a:bodyPr/>
          <a:lstStyle/>
          <a:p>
            <a:r>
              <a:rPr sz="1400" b="1" dirty="0">
                <a:solidFill>
                  <a:srgbClr val="003366"/>
                </a:solidFill>
                <a:latin typeface="Times New Roman"/>
              </a:rPr>
              <a:t>• Approval obtained from Faculty Guide (Prof. Dhivya C.R.) via official mail: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guide_approval_em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63" y="2150000"/>
            <a:ext cx="8074187" cy="40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sz="1300" dirty="0">
                <a:solidFill>
                  <a:srgbClr val="1E1E1E"/>
                </a:solidFill>
                <a:latin typeface="Times New Roman"/>
              </a:rPr>
              <a:t>• Construct a continuous-time Temporal Shadow Graph directly from ERP transaction ledgers (SAP, </a:t>
            </a:r>
            <a:r>
              <a:rPr sz="1300" dirty="0" err="1">
                <a:solidFill>
                  <a:srgbClr val="1E1E1E"/>
                </a:solidFill>
                <a:latin typeface="Times New Roman"/>
              </a:rPr>
              <a:t>BankSim</a:t>
            </a:r>
            <a:r>
              <a:rPr sz="1300" dirty="0">
                <a:solidFill>
                  <a:srgbClr val="1E1E1E"/>
                </a:solidFill>
                <a:latin typeface="Times New Roman"/>
              </a:rPr>
              <a:t>, IBM AML) to model multi-party financial interactions with a unified account namespace.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sz="1300" dirty="0">
                <a:solidFill>
                  <a:srgbClr val="1E1E1E"/>
                </a:solidFill>
                <a:latin typeface="Times New Roman"/>
              </a:rPr>
              <a:t>• Extract time-constrained topological fraud patterns (circular round-tripping, fan-in mule funnels, rapid layering chains) using strictly past-only graph traversals.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sz="1300" dirty="0">
                <a:solidFill>
                  <a:srgbClr val="1E1E1E"/>
                </a:solidFill>
                <a:latin typeface="Times New Roman"/>
              </a:rPr>
              <a:t>• Build a robust hybrid detection pipeline combining cost-sensitive gradient boosted decision trees (</a:t>
            </a:r>
            <a:r>
              <a:rPr sz="1300" dirty="0" err="1">
                <a:solidFill>
                  <a:srgbClr val="1E1E1E"/>
                </a:solidFill>
                <a:latin typeface="Times New Roman"/>
              </a:rPr>
              <a:t>XGBoost</a:t>
            </a:r>
            <a:r>
              <a:rPr sz="1300" dirty="0">
                <a:solidFill>
                  <a:srgbClr val="1E1E1E"/>
                </a:solidFill>
                <a:latin typeface="Times New Roman"/>
              </a:rPr>
              <a:t>) and continuous-time Temporal Graph Networks (TGN).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sz="1300" dirty="0">
                <a:solidFill>
                  <a:srgbClr val="1E1E1E"/>
                </a:solidFill>
                <a:latin typeface="Times New Roman"/>
              </a:rPr>
              <a:t>• Provide dual-layer forensic explainability by coupling quantitative </a:t>
            </a:r>
            <a:r>
              <a:rPr sz="1300" dirty="0" err="1">
                <a:solidFill>
                  <a:srgbClr val="1E1E1E"/>
                </a:solidFill>
                <a:latin typeface="Times New Roman"/>
              </a:rPr>
              <a:t>TreeSHAP</a:t>
            </a:r>
            <a:r>
              <a:rPr sz="1300" dirty="0">
                <a:solidFill>
                  <a:srgbClr val="1E1E1E"/>
                </a:solidFill>
                <a:latin typeface="Times New Roman"/>
              </a:rPr>
              <a:t> feature attributions with interactive Neo4j visual subgraphs for internal auditors.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sz="1300" dirty="0">
                <a:solidFill>
                  <a:srgbClr val="1E1E1E"/>
                </a:solidFill>
                <a:latin typeface="Times New Roman"/>
              </a:rPr>
              <a:t>• Conduct honest, multi-seed ablation benchmarks across diverse graph density regimes without data leakage, verifying where graph structure truly adds value.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sz="1300" dirty="0">
                <a:solidFill>
                  <a:srgbClr val="1E1E1E"/>
                </a:solidFill>
                <a:latin typeface="Times New Roman"/>
              </a:rPr>
              <a:t>• Formulate a privacy-preserving federated consensus mechanism (</a:t>
            </a:r>
            <a:r>
              <a:rPr sz="1300" dirty="0" err="1">
                <a:solidFill>
                  <a:srgbClr val="1E1E1E"/>
                </a:solidFill>
                <a:latin typeface="Times New Roman"/>
              </a:rPr>
              <a:t>FedProx</a:t>
            </a:r>
            <a:r>
              <a:rPr sz="1300" dirty="0">
                <a:solidFill>
                  <a:srgbClr val="1E1E1E"/>
                </a:solidFill>
                <a:latin typeface="Times New Roman"/>
              </a:rPr>
              <a:t>) enabling multi-bank collaborative defense without sharing raw proprietary financial data.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400"/>
              </a:spcBef>
              <a:spcAft>
                <a:spcPts val="5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• Context &amp; Motivation: </a:t>
            </a:r>
            <a:r>
              <a:rPr sz="1200">
                <a:solidFill>
                  <a:srgbClr val="1E1E1E"/>
                </a:solidFill>
                <a:latin typeface="Times New Roman"/>
              </a:rPr>
              <a:t>Enterprise Resource Planning (ERP) databases process billions of dollars in multi-party transactions where conventional row-level auditing fails to detect coordinated collusion, mule fan-in funnels, and circular round-tripping. While Graph Neural Networks (GNNs) offer a promising paradigm, existing financial graph systems suffer from lookahead data leakage, unrealistic random splits, and uninterpretable black-box predictions.</a:t>
            </a:r>
          </a:p>
          <a:p>
            <a:pPr>
              <a:spcBef>
                <a:spcPts val="400"/>
              </a:spcBef>
              <a:spcAft>
                <a:spcPts val="5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• Proposed Architecture: </a:t>
            </a:r>
            <a:r>
              <a:rPr sz="1200">
                <a:solidFill>
                  <a:srgbClr val="1E1E1E"/>
                </a:solidFill>
                <a:latin typeface="Times New Roman"/>
              </a:rPr>
              <a:t>We present The Self-Auditing Ledger, a leakage-free-by-construction research system. It ingests ERP transaction streams, maintains a dynamic directed bipartite graph, and computes streaming structural topology features (fan-in velocity, temporal in-degree, cycle indicators) with zero lookahead (t ≤ t_event). Risk probabilities are scored via cost-sensitive XGBoost and continuous-time TGN models with focal loss.</a:t>
            </a:r>
          </a:p>
          <a:p>
            <a:pPr>
              <a:spcBef>
                <a:spcPts val="400"/>
              </a:spcBef>
              <a:spcAft>
                <a:spcPts val="5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• Empirical Findings &amp; Contributions: </a:t>
            </a:r>
            <a:r>
              <a:rPr sz="1200">
                <a:solidFill>
                  <a:srgbClr val="1E1E1E"/>
                </a:solidFill>
                <a:latin typeface="Times New Roman"/>
              </a:rPr>
              <a:t>Validated across benchmark financial datasets (BankSim 595k, IBM AML 1.32M) over 3 random seeds. Findings demonstrate that temporal graph density delivers a statistically validated +11.7% PR-AUC improvement on relational transaction networks (champion reaches 0.936 PR-AUC with 1.00 Precision@100). The federated extension (FedProx) achieves 98.91% centralized performance parity with +5.93% lift, pairing alerts with exact TreeSHAP feature drivers and interactive Neo4j visual paths.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600000" y="1300000"/>
            <a:ext cx="109920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We selected 12 recent papers across three main themes: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1">
                <a:solidFill>
                  <a:srgbClr val="003366"/>
                </a:solidFill>
                <a:latin typeface="Times New Roman"/>
              </a:rPr>
              <a:t>1. GNN-based fraud detection (Papers 1, 2, 4, 7, 9, 10) — </a:t>
            </a:r>
            <a:r>
              <a:rPr sz="950">
                <a:solidFill>
                  <a:srgbClr val="1E1E1E"/>
                </a:solidFill>
                <a:latin typeface="Times New Roman"/>
              </a:rPr>
              <a:t>Learn latent graph representations for classification, but operate as opaque black boxes without explicit, auditable fraud topology extraction.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1">
                <a:solidFill>
                  <a:srgbClr val="003366"/>
                </a:solidFill>
                <a:latin typeface="Times New Roman"/>
              </a:rPr>
              <a:t>2. Imbalance handling (Papers 3, 8) — </a:t>
            </a:r>
            <a:r>
              <a:rPr sz="950">
                <a:solidFill>
                  <a:srgbClr val="1E1E1E"/>
                </a:solidFill>
                <a:latin typeface="Times New Roman"/>
              </a:rPr>
              <a:t>Focus on synthetic data balancing (GANs, SMOTE) and quantum feature selection, but ignore structural fraud relationships in the transaction network.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1">
                <a:solidFill>
                  <a:srgbClr val="003366"/>
                </a:solidFill>
                <a:latin typeface="Times New Roman"/>
              </a:rPr>
              <a:t>3. ERP and Audit studies (Papers 5, 11, 12) — </a:t>
            </a:r>
            <a:r>
              <a:rPr sz="950">
                <a:solidFill>
                  <a:srgbClr val="1E1E1E"/>
                </a:solidFill>
                <a:latin typeface="Times New Roman"/>
              </a:rPr>
              <a:t>Identify the necessity of continuous auditing in ERP systems, but provide no automated, streaming graph-based detection solution.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1">
                <a:solidFill>
                  <a:srgbClr val="A01414"/>
                </a:solidFill>
                <a:latin typeface="Times New Roman"/>
              </a:rPr>
              <a:t>Common research gap: </a:t>
            </a:r>
            <a:r>
              <a:rPr sz="950">
                <a:solidFill>
                  <a:srgbClr val="1E1E1E"/>
                </a:solidFill>
                <a:latin typeface="Times New Roman"/>
              </a:rPr>
              <a:t>None extract interpretable fraud topologies from ERP transaction graphs or present verified suspicious money-flow paths as legal audit evidence.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00000" y="2650000"/>
          <a:ext cx="10992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4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#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Authors (Year)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Times New Roman"/>
                        </a:rPr>
                        <a:t>Key Gap Our Work Addresses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Motie et al. (2024)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GNN Systematic Review (R-GCN, GAT)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No explicit topology detection; latent embedding opacity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Innan et al. (2024)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Quantum GNN (QGNN)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Not explainable; restricted to small simulation networks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Grossi et al. (2022)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Quantum Feature + QSVM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Feature selection only; completely ignores relational structure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Devi et al. (2025)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RL-GNN + GAT Fusion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Learns implicitly; lacks explicit named topology extraction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Jawad et al. (2024)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ML-ERP Architecture Review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Targets workflow optimisation, not forensic fraud detection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Yuan et al. (2025)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GNN Anomaly Survey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Broad anomaly focus; ignores ERP double-entry ledgers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7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Shi et al. (2026)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ST-CGNN (Spatio-Temporal)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Black-box embeddings; lack audit-grade path explainability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Zhi et al. (2025)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EAC-GAN (Imbalance)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Generates synthetic tabular samples; distorts graph topology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9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Tong et al. (2023)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HHLN-GNN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Latent representation-based; legally non-defensible in audits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Boyapati et al. (2025)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BalancerGNN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Focuses on graph loss reweighting; no ERP audit trails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6923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11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Mamakou et al. (2024)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ERP Evaluation &amp; Internal Controls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Manual audit sampling misses &gt;95% of internal collusion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6924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E1E1E"/>
                          </a:solidFill>
                          <a:latin typeface="Times New Roman"/>
                        </a:rPr>
                        <a:t>Vasarhelyi et al. (2012)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Continuous Auditing (CA) Framework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>
                          <a:solidFill>
                            <a:srgbClr val="1E1E1E"/>
                          </a:solidFill>
                          <a:latin typeface="Times New Roman"/>
                        </a:rPr>
                        <a:t>Establishes CA theory; lacks automated graph detection 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838200" y="1432041"/>
            <a:ext cx="9923929" cy="4750000"/>
          </a:xfrm>
        </p:spPr>
        <p:txBody>
          <a:bodyPr>
            <a:normAutofit/>
          </a:bodyPr>
          <a:lstStyle/>
          <a:p>
            <a:pPr marL="0" indent="0">
              <a:spcBef>
                <a:spcPts val="400"/>
              </a:spcBef>
              <a:spcAft>
                <a:spcPts val="100"/>
              </a:spcAft>
              <a:buNone/>
            </a:pPr>
            <a:r>
              <a:rPr sz="1300" b="1" dirty="0">
                <a:solidFill>
                  <a:srgbClr val="003366"/>
                </a:solidFill>
                <a:latin typeface="Times New Roman"/>
              </a:rPr>
              <a:t>1.  No explicit fraud topology extraction</a:t>
            </a:r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</a:pPr>
            <a:r>
              <a:rPr sz="1150" dirty="0">
                <a:solidFill>
                  <a:srgbClr val="1E1E1E"/>
                </a:solidFill>
                <a:latin typeface="Times New Roman"/>
              </a:rPr>
              <a:t>Current GNN approaches learn hidden latent patterns for classification but don’t identify named fraud structures (cycles, fan-in hubs, lapping chains) as readable features. Auditors can’t trace a risk score back to a concrete suspicious money path.</a:t>
            </a:r>
          </a:p>
          <a:p>
            <a:pPr marL="0" indent="0">
              <a:spcBef>
                <a:spcPts val="400"/>
              </a:spcBef>
              <a:spcAft>
                <a:spcPts val="100"/>
              </a:spcAft>
              <a:buNone/>
            </a:pPr>
            <a:r>
              <a:rPr sz="1300" b="1" dirty="0">
                <a:solidFill>
                  <a:srgbClr val="003366"/>
                </a:solidFill>
                <a:latin typeface="Times New Roman"/>
              </a:rPr>
              <a:t>2.  No leakage-free evaluation in graph-based fraud detection</a:t>
            </a:r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</a:pPr>
            <a:r>
              <a:rPr sz="1150" dirty="0">
                <a:solidFill>
                  <a:srgbClr val="1E1E1E"/>
                </a:solidFill>
                <a:latin typeface="Times New Roman"/>
              </a:rPr>
              <a:t>Prior systems — including our own predecessor — compute graph features using the entire dataset including future transactions, making test scores artificially high. No published work enforces a strictly past-only computation model with automated leakage testing.</a:t>
            </a:r>
          </a:p>
          <a:p>
            <a:pPr marL="0" indent="0">
              <a:spcBef>
                <a:spcPts val="400"/>
              </a:spcBef>
              <a:spcAft>
                <a:spcPts val="100"/>
              </a:spcAft>
              <a:buNone/>
            </a:pPr>
            <a:r>
              <a:rPr sz="1300" b="1" dirty="0">
                <a:solidFill>
                  <a:srgbClr val="003366"/>
                </a:solidFill>
                <a:latin typeface="Times New Roman"/>
              </a:rPr>
              <a:t>3.  No honest comparison of topology vs. tabular features</a:t>
            </a:r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</a:pPr>
            <a:r>
              <a:rPr sz="1150" dirty="0">
                <a:solidFill>
                  <a:srgbClr val="1E1E1E"/>
                </a:solidFill>
                <a:latin typeface="Times New Roman"/>
              </a:rPr>
              <a:t>The claim that 'graph topology adds value' has never been tested with a clean experiment using the same time-based data split, a single imbalance fix, and proper rare-event metrics (PR-AUC) for extremely imbalanced financial data.</a:t>
            </a:r>
          </a:p>
          <a:p>
            <a:pPr marL="0" indent="0">
              <a:spcBef>
                <a:spcPts val="400"/>
              </a:spcBef>
              <a:spcAft>
                <a:spcPts val="100"/>
              </a:spcAft>
              <a:buNone/>
            </a:pPr>
            <a:r>
              <a:rPr sz="1300" b="1" dirty="0">
                <a:solidFill>
                  <a:srgbClr val="003366"/>
                </a:solidFill>
                <a:latin typeface="Times New Roman"/>
              </a:rPr>
              <a:t>4.  Limited ERP-domain application &amp; non-IID federation</a:t>
            </a:r>
          </a:p>
          <a:p>
            <a:pPr marL="0" indent="0">
              <a:spcBef>
                <a:spcPts val="100"/>
              </a:spcBef>
              <a:spcAft>
                <a:spcPts val="400"/>
              </a:spcAft>
              <a:buNone/>
            </a:pPr>
            <a:r>
              <a:rPr sz="1150" dirty="0">
                <a:solidFill>
                  <a:srgbClr val="1E1E1E"/>
                </a:solidFill>
                <a:latin typeface="Times New Roman"/>
              </a:rPr>
              <a:t>Most graph-based fraud detection targets social networks or payment cards. Enterprise Resource Planning (ERP) ledgers (SAP, Oracle) with double-entry accounting remain unaddressed, while cross-institutional federation suffers from severe non-IID operational skew.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371600"/>
            <a:ext cx="10515600" cy="2500000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E1E1E"/>
                </a:solidFill>
                <a:latin typeface="Times New Roman"/>
              </a:rPr>
              <a:t>1.  Build a Temporal Shadow Graph from ERP transaction data, with a unified account namespace that makes structural patterns (cycles, chains) visible — fixing a critical identity-splitting bug in the predecessor.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E1E1E"/>
                </a:solidFill>
                <a:latin typeface="Times New Roman"/>
              </a:rPr>
              <a:t>2.  Design a leakage-free Temporal Topology Engine that extracts structural fraud features (cycle detection, fan-in/fan-out density, lapping indicators) using strictly past-only streaming computation — with automated leakage tests as a safety gate.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E1E1E"/>
                </a:solidFill>
                <a:latin typeface="Times New Roman"/>
              </a:rPr>
              <a:t>3.  Run a rigorous within-dataset ablation (baseline vs. baseline + topology) across four datasets spanning a range of graph richness (IBM AML, BankSim, SAP Würzburg, PaySim) — and report the result honestly, either way.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E1E1E"/>
                </a:solidFill>
                <a:latin typeface="Times New Roman"/>
              </a:rPr>
              <a:t>4.  Produce explainable audit alerts combining SHAP feature explanations with the concrete suspicious graph path, shown in Neo4j — giving auditors both the reason and the evidence.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>
                <a:solidFill>
                  <a:srgbClr val="1E1E1E"/>
                </a:solidFill>
                <a:latin typeface="Times New Roman"/>
              </a:rPr>
              <a:t>5.  Formulate a privacy-preserving federated consensus mechanism (FedProx) enabling multi-bank collaborative defense without pooling proprietary transaction data.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515480" y="3964539"/>
            <a:ext cx="1152340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100" b="1">
                <a:solidFill>
                  <a:srgbClr val="003366"/>
                </a:solidFill>
                <a:latin typeface="Times New Roman"/>
              </a:rPr>
              <a:t>Identified: Sustainable Development Goals   |   TECHNOLOGY READINESS LEVEL (TRL)   |   Projected Outcomes</a:t>
            </a: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778273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413148"/>
            <a:ext cx="2447027" cy="22326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59448" y="4450000"/>
            <a:ext cx="4114800" cy="1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03366"/>
                </a:solidFill>
                <a:latin typeface="Times New Roman"/>
              </a:rPr>
              <a:t>• SDGs Mapped: </a:t>
            </a:r>
            <a:r>
              <a:rPr sz="1000">
                <a:solidFill>
                  <a:srgbClr val="1E1E1E"/>
                </a:solidFill>
                <a:latin typeface="Times New Roman"/>
              </a:rPr>
              <a:t>SDG 8 (Decent Work &amp; Growth), SDG 9 (Industry &amp; Innovation), SDG 16 (Peace, Justice &amp; Strong Institutions)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03366"/>
                </a:solidFill>
                <a:latin typeface="Times New Roman"/>
              </a:rPr>
              <a:t>• Current TRL: </a:t>
            </a:r>
            <a:r>
              <a:rPr sz="1000">
                <a:solidFill>
                  <a:srgbClr val="1E1E1E"/>
                </a:solidFill>
                <a:latin typeface="Times New Roman"/>
              </a:rPr>
              <a:t>TRL 6 - 7 (System prototype demonstrated in operational environment)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03366"/>
                </a:solidFill>
                <a:latin typeface="Times New Roman"/>
              </a:rPr>
              <a:t>• Target Outcomes: </a:t>
            </a:r>
            <a:r>
              <a:rPr sz="1000">
                <a:solidFill>
                  <a:srgbClr val="1E1E1E"/>
                </a:solidFill>
                <a:latin typeface="Times New Roman"/>
              </a:rPr>
              <a:t>• Scopus-Indexed Journal / Conference Publication
• Open-Source Forensic Auditing Package &amp; Live Tool</a:t>
            </a:r>
          </a:p>
        </p:txBody>
      </p:sp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2560320" cy="393192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Stage 1: Ingestion &amp; Bipartite Projection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Ingests raw ERP journals (SAP BKPF/BSEG, BankSim, IBM AML)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Resolves disparate account identifiers into canonical bipartite graph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Enforces chronological event queuing without lookahead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463040"/>
            <a:ext cx="2560320" cy="393192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Stage 2: Streaming Zero-Lookahead Topology Engine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Streaming sliding-window graph (1h, 24h, 7d trailing windows)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Dynamically computes in/out degree, fan-in ratio, and cycles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Strict temporal invariance: k-th event invariant to future (k+1..N)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463040"/>
            <a:ext cx="2560320" cy="393192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Stage 3: Hybrid Modeling &amp; Representation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Chronological train/val/test temporal splits (multi-seed)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Cost-sensitive XGBoost with alpha-free focal loss &amp; Bayesian HPO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Continuous-time Temporal Graph Network (TGN) dynamic GRU 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463040"/>
            <a:ext cx="2560320" cy="393192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B4C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</a:pPr>
            <a:r>
              <a:rPr sz="1200" b="1">
                <a:solidFill>
                  <a:srgbClr val="003366"/>
                </a:solidFill>
                <a:latin typeface="Times New Roman"/>
              </a:rPr>
              <a:t>Stage 4: Dual-Layer Explainability &amp; Audit Dispatch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Exact TreeSHAP local feature attribution breakdown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Automated Cypher queries extracting 2-hop to 3-hop money paths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50">
                <a:solidFill>
                  <a:srgbClr val="1E1E1E"/>
                </a:solidFill>
                <a:latin typeface="Times New Roman"/>
              </a:rPr>
              <a:t>• Interactive Neo4j visual graph replay for statutory SOX auditors</a:t>
            </a: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318247" y="1432041"/>
            <a:ext cx="11555506" cy="4750000"/>
          </a:xfrm>
        </p:spPr>
        <p:txBody>
          <a:bodyPr>
            <a:norm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003366"/>
                </a:solidFill>
                <a:latin typeface="Times New Roman"/>
              </a:rPr>
              <a:t>Real-Time Transaction Ingestion: </a:t>
            </a:r>
            <a:r>
              <a:rPr sz="1150" dirty="0">
                <a:solidFill>
                  <a:srgbClr val="1E1E1E"/>
                </a:solidFill>
                <a:latin typeface="Times New Roman"/>
              </a:rPr>
              <a:t>Continuously accept ERP financial records and convert them into a live account-to-account network with unified entity namespaces.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003366"/>
                </a:solidFill>
                <a:latin typeface="Times New Roman"/>
              </a:rPr>
              <a:t>Past-Only Graph Feature Extraction: </a:t>
            </a:r>
            <a:r>
              <a:rPr sz="1150" dirty="0">
                <a:solidFill>
                  <a:srgbClr val="1E1E1E"/>
                </a:solidFill>
                <a:latin typeface="Times New Roman"/>
              </a:rPr>
              <a:t>Calculate network patterns (money-mule funnels, transaction bursts, circular flows) using strictly past data to prevent cheating/leakage.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003366"/>
                </a:solidFill>
                <a:latin typeface="Times New Roman"/>
              </a:rPr>
              <a:t>Automated Anti-Leakage Testing: </a:t>
            </a:r>
            <a:r>
              <a:rPr sz="1150" dirty="0">
                <a:solidFill>
                  <a:srgbClr val="1E1E1E"/>
                </a:solidFill>
                <a:latin typeface="Times New Roman"/>
              </a:rPr>
              <a:t>Automatically verify through invariance regression tests that future transactions never affect past transaction risk scores.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003366"/>
                </a:solidFill>
                <a:latin typeface="Times New Roman"/>
              </a:rPr>
              <a:t>Fraud Risk Scoring: </a:t>
            </a:r>
            <a:r>
              <a:rPr sz="1150" dirty="0">
                <a:solidFill>
                  <a:srgbClr val="1E1E1E"/>
                </a:solidFill>
                <a:latin typeface="Times New Roman"/>
              </a:rPr>
              <a:t>Predict calibrated risk scores (0% to 100%) for each transaction, optimized for highly imbalanced fraud data via alpha-free focal loss.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003366"/>
                </a:solidFill>
                <a:latin typeface="Times New Roman"/>
              </a:rPr>
              <a:t>Forensic Feature Explanations: </a:t>
            </a:r>
            <a:r>
              <a:rPr sz="1150" dirty="0">
                <a:solidFill>
                  <a:srgbClr val="1E1E1E"/>
                </a:solidFill>
                <a:latin typeface="Times New Roman"/>
              </a:rPr>
              <a:t>Clearly show which specific indicators (amount, speed, network shape) triggered each fraud alert via exact </a:t>
            </a:r>
            <a:r>
              <a:rPr sz="1150" dirty="0" err="1">
                <a:solidFill>
                  <a:srgbClr val="1E1E1E"/>
                </a:solidFill>
                <a:latin typeface="Times New Roman"/>
              </a:rPr>
              <a:t>TreeSHAP</a:t>
            </a:r>
            <a:r>
              <a:rPr sz="1150" dirty="0">
                <a:solidFill>
                  <a:srgbClr val="1E1E1E"/>
                </a:solidFill>
                <a:latin typeface="Times New Roman"/>
              </a:rPr>
              <a:t> attributions.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003366"/>
                </a:solidFill>
                <a:latin typeface="Times New Roman"/>
              </a:rPr>
              <a:t>Visual Money-Path Reconstruction: </a:t>
            </a:r>
            <a:r>
              <a:rPr sz="1150" dirty="0">
                <a:solidFill>
                  <a:srgbClr val="1E1E1E"/>
                </a:solidFill>
                <a:latin typeface="Times New Roman"/>
              </a:rPr>
              <a:t>Trace and display the suspicious chain of transfers in an interactive graph (Neo4j) for human auditors.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003366"/>
                </a:solidFill>
                <a:latin typeface="Times New Roman"/>
              </a:rPr>
              <a:t>Privacy-Preserving Federated Consensus: </a:t>
            </a:r>
            <a:r>
              <a:rPr sz="1150" dirty="0">
                <a:solidFill>
                  <a:srgbClr val="1E1E1E"/>
                </a:solidFill>
                <a:latin typeface="Times New Roman"/>
              </a:rPr>
              <a:t>Enable multi-bank collaborative risk scoring (</a:t>
            </a:r>
            <a:r>
              <a:rPr sz="1150" dirty="0" err="1">
                <a:solidFill>
                  <a:srgbClr val="1E1E1E"/>
                </a:solidFill>
                <a:latin typeface="Times New Roman"/>
              </a:rPr>
              <a:t>FedProx</a:t>
            </a:r>
            <a:r>
              <a:rPr sz="1150" dirty="0">
                <a:solidFill>
                  <a:srgbClr val="1E1E1E"/>
                </a:solidFill>
                <a:latin typeface="Times New Roman"/>
              </a:rPr>
              <a:t>) without pooling raw proprietary transaction data.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608076" y="1432041"/>
            <a:ext cx="10975848" cy="4750000"/>
          </a:xfrm>
        </p:spPr>
        <p:txBody>
          <a:bodyPr>
            <a:normAutofit/>
          </a:bodyPr>
          <a:lstStyle/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sz="1150" b="1" dirty="0">
                <a:solidFill>
                  <a:srgbClr val="003366"/>
                </a:solidFill>
                <a:latin typeface="Times New Roman"/>
              </a:rPr>
              <a:t>• Module 1: ETL &amp; Graph Representation (</a:t>
            </a:r>
            <a:r>
              <a:rPr sz="1150" b="1" dirty="0" err="1">
                <a:solidFill>
                  <a:srgbClr val="003366"/>
                </a:solidFill>
                <a:latin typeface="Times New Roman"/>
              </a:rPr>
              <a:t>src</a:t>
            </a:r>
            <a:r>
              <a:rPr sz="1150" b="1" dirty="0">
                <a:solidFill>
                  <a:srgbClr val="003366"/>
                </a:solidFill>
                <a:latin typeface="Times New Roman"/>
              </a:rPr>
              <a:t>/</a:t>
            </a:r>
            <a:r>
              <a:rPr sz="1150" b="1" dirty="0" err="1">
                <a:solidFill>
                  <a:srgbClr val="003366"/>
                </a:solidFill>
                <a:latin typeface="Times New Roman"/>
              </a:rPr>
              <a:t>etl</a:t>
            </a:r>
            <a:r>
              <a:rPr sz="1150" b="1" dirty="0">
                <a:solidFill>
                  <a:srgbClr val="003366"/>
                </a:solidFill>
                <a:latin typeface="Times New Roman"/>
              </a:rPr>
              <a:t>/, </a:t>
            </a:r>
            <a:r>
              <a:rPr sz="1150" b="1" dirty="0" err="1">
                <a:solidFill>
                  <a:srgbClr val="003366"/>
                </a:solidFill>
                <a:latin typeface="Times New Roman"/>
              </a:rPr>
              <a:t>src</a:t>
            </a:r>
            <a:r>
              <a:rPr sz="1150" b="1" dirty="0">
                <a:solidFill>
                  <a:srgbClr val="003366"/>
                </a:solidFill>
                <a:latin typeface="Times New Roman"/>
              </a:rPr>
              <a:t>/graph/) — </a:t>
            </a:r>
            <a:r>
              <a:rPr sz="1100" dirty="0">
                <a:solidFill>
                  <a:srgbClr val="1E1E1E"/>
                </a:solidFill>
                <a:latin typeface="Times New Roman"/>
              </a:rPr>
              <a:t>Ingests multi-source ERP logs, unifies entity namespaces across source/target accounts, builds directed multi-graphs, and synchronizes with Neo4j graph stores.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sz="1150" b="1" dirty="0">
                <a:solidFill>
                  <a:srgbClr val="003366"/>
                </a:solidFill>
                <a:latin typeface="Times New Roman"/>
              </a:rPr>
              <a:t>• Module 2: Streaming Zero-Lookahead Topology Engine (</a:t>
            </a:r>
            <a:r>
              <a:rPr sz="1150" b="1" dirty="0" err="1">
                <a:solidFill>
                  <a:srgbClr val="003366"/>
                </a:solidFill>
                <a:latin typeface="Times New Roman"/>
              </a:rPr>
              <a:t>src</a:t>
            </a:r>
            <a:r>
              <a:rPr sz="1150" b="1" dirty="0">
                <a:solidFill>
                  <a:srgbClr val="003366"/>
                </a:solidFill>
                <a:latin typeface="Times New Roman"/>
              </a:rPr>
              <a:t>/topology/) — </a:t>
            </a:r>
            <a:r>
              <a:rPr sz="1100" dirty="0">
                <a:solidFill>
                  <a:srgbClr val="1E1E1E"/>
                </a:solidFill>
                <a:latin typeface="Times New Roman"/>
              </a:rPr>
              <a:t>Sliding-window graph engine maintaining past-only state, computing streaming in/out-degree velocity, fan-in ratios, and memory-based lapping detectors.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sz="1150" b="1" dirty="0">
                <a:solidFill>
                  <a:srgbClr val="003366"/>
                </a:solidFill>
                <a:latin typeface="Times New Roman"/>
              </a:rPr>
              <a:t>• Module 3: Hybrid Classifier &amp; Temporal Representation (</a:t>
            </a:r>
            <a:r>
              <a:rPr sz="1150" b="1" dirty="0" err="1">
                <a:solidFill>
                  <a:srgbClr val="003366"/>
                </a:solidFill>
                <a:latin typeface="Times New Roman"/>
              </a:rPr>
              <a:t>src</a:t>
            </a:r>
            <a:r>
              <a:rPr sz="1150" b="1" dirty="0">
                <a:solidFill>
                  <a:srgbClr val="003366"/>
                </a:solidFill>
                <a:latin typeface="Times New Roman"/>
              </a:rPr>
              <a:t>/modeling/, </a:t>
            </a:r>
            <a:r>
              <a:rPr sz="1150" b="1" dirty="0" err="1">
                <a:solidFill>
                  <a:srgbClr val="003366"/>
                </a:solidFill>
                <a:latin typeface="Times New Roman"/>
              </a:rPr>
              <a:t>src</a:t>
            </a:r>
            <a:r>
              <a:rPr sz="1150" b="1" dirty="0">
                <a:solidFill>
                  <a:srgbClr val="003366"/>
                </a:solidFill>
                <a:latin typeface="Times New Roman"/>
              </a:rPr>
              <a:t>/modeling/tgn.py) — </a:t>
            </a:r>
            <a:r>
              <a:rPr sz="1100" dirty="0">
                <a:solidFill>
                  <a:srgbClr val="1E1E1E"/>
                </a:solidFill>
                <a:latin typeface="Times New Roman"/>
              </a:rPr>
              <a:t>Cost-sensitive </a:t>
            </a:r>
            <a:r>
              <a:rPr sz="1100" dirty="0" err="1">
                <a:solidFill>
                  <a:srgbClr val="1E1E1E"/>
                </a:solidFill>
                <a:latin typeface="Times New Roman"/>
              </a:rPr>
              <a:t>XGBoost</a:t>
            </a:r>
            <a:r>
              <a:rPr sz="1100" dirty="0">
                <a:solidFill>
                  <a:srgbClr val="1E1E1E"/>
                </a:solidFill>
                <a:latin typeface="Times New Roman"/>
              </a:rPr>
              <a:t> with alpha-free focal loss, </a:t>
            </a:r>
            <a:r>
              <a:rPr sz="1100" dirty="0" err="1">
                <a:solidFill>
                  <a:srgbClr val="1E1E1E"/>
                </a:solidFill>
                <a:latin typeface="Times New Roman"/>
              </a:rPr>
              <a:t>Optuna</a:t>
            </a:r>
            <a:r>
              <a:rPr sz="1100" dirty="0">
                <a:solidFill>
                  <a:srgbClr val="1E1E1E"/>
                </a:solidFill>
                <a:latin typeface="Times New Roman"/>
              </a:rPr>
              <a:t> Bayesian HPO, and continuous-time TGN embedding modules for joint tabular-graph learning.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sz="1150" b="1" dirty="0">
                <a:solidFill>
                  <a:srgbClr val="003366"/>
                </a:solidFill>
                <a:latin typeface="Times New Roman"/>
              </a:rPr>
              <a:t>• Module 4: Calibrated Synthetic ERP Simulator (</a:t>
            </a:r>
            <a:r>
              <a:rPr sz="1150" b="1" dirty="0" err="1">
                <a:solidFill>
                  <a:srgbClr val="003366"/>
                </a:solidFill>
                <a:latin typeface="Times New Roman"/>
              </a:rPr>
              <a:t>src</a:t>
            </a:r>
            <a:r>
              <a:rPr sz="1150" b="1" dirty="0">
                <a:solidFill>
                  <a:srgbClr val="003366"/>
                </a:solidFill>
                <a:latin typeface="Times New Roman"/>
              </a:rPr>
              <a:t>/synth/) — </a:t>
            </a:r>
            <a:r>
              <a:rPr sz="1100" dirty="0">
                <a:solidFill>
                  <a:srgbClr val="1E1E1E"/>
                </a:solidFill>
                <a:latin typeface="Times New Roman"/>
              </a:rPr>
              <a:t>Agent-based economic engine generating realistic enterprise business cycles and injecting behavior-driven fraud typologies for benchmarking.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sz="1150" b="1" dirty="0">
                <a:solidFill>
                  <a:srgbClr val="003366"/>
                </a:solidFill>
                <a:latin typeface="Times New Roman"/>
              </a:rPr>
              <a:t>• Module 5: Forensic Explainability &amp; Neo4j Visual Audit Dashboard (</a:t>
            </a:r>
            <a:r>
              <a:rPr sz="1150" b="1" dirty="0" err="1">
                <a:solidFill>
                  <a:srgbClr val="003366"/>
                </a:solidFill>
                <a:latin typeface="Times New Roman"/>
              </a:rPr>
              <a:t>src</a:t>
            </a:r>
            <a:r>
              <a:rPr sz="1150" b="1" dirty="0">
                <a:solidFill>
                  <a:srgbClr val="003366"/>
                </a:solidFill>
                <a:latin typeface="Times New Roman"/>
              </a:rPr>
              <a:t>/explainability/, demo/) — </a:t>
            </a:r>
            <a:r>
              <a:rPr sz="1100" dirty="0">
                <a:solidFill>
                  <a:srgbClr val="1E1E1E"/>
                </a:solidFill>
                <a:latin typeface="Times New Roman"/>
              </a:rPr>
              <a:t>Dual-engine alert dispatcher coupling </a:t>
            </a:r>
            <a:r>
              <a:rPr sz="1100" dirty="0" err="1">
                <a:solidFill>
                  <a:srgbClr val="1E1E1E"/>
                </a:solidFill>
                <a:latin typeface="Times New Roman"/>
              </a:rPr>
              <a:t>TreeSHAP</a:t>
            </a:r>
            <a:r>
              <a:rPr sz="1100" dirty="0">
                <a:solidFill>
                  <a:srgbClr val="1E1E1E"/>
                </a:solidFill>
                <a:latin typeface="Times New Roman"/>
              </a:rPr>
              <a:t> attributions with interactive SVG/D3 and Neo4j visual path replay.</a:t>
            </a:r>
          </a:p>
          <a:p>
            <a:pPr marL="0" indent="0">
              <a:spcBef>
                <a:spcPts val="400"/>
              </a:spcBef>
              <a:spcAft>
                <a:spcPts val="400"/>
              </a:spcAft>
              <a:buNone/>
            </a:pPr>
            <a:r>
              <a:rPr sz="1150" b="1" dirty="0">
                <a:solidFill>
                  <a:srgbClr val="003366"/>
                </a:solidFill>
                <a:latin typeface="Times New Roman"/>
              </a:rPr>
              <a:t>• Module 6: Federated Consortium Engine (</a:t>
            </a:r>
            <a:r>
              <a:rPr sz="1150" b="1" dirty="0" err="1">
                <a:solidFill>
                  <a:srgbClr val="003366"/>
                </a:solidFill>
                <a:latin typeface="Times New Roman"/>
              </a:rPr>
              <a:t>src</a:t>
            </a:r>
            <a:r>
              <a:rPr sz="1150" b="1" dirty="0">
                <a:solidFill>
                  <a:srgbClr val="003366"/>
                </a:solidFill>
                <a:latin typeface="Times New Roman"/>
              </a:rPr>
              <a:t>/federated/) — </a:t>
            </a:r>
            <a:r>
              <a:rPr sz="1100" dirty="0">
                <a:solidFill>
                  <a:srgbClr val="1E1E1E"/>
                </a:solidFill>
                <a:latin typeface="Times New Roman"/>
              </a:rPr>
              <a:t>Multi-client simulation under non-IID Dirichlet distribution with </a:t>
            </a:r>
            <a:r>
              <a:rPr sz="1100" dirty="0" err="1">
                <a:solidFill>
                  <a:srgbClr val="1E1E1E"/>
                </a:solidFill>
                <a:latin typeface="Times New Roman"/>
              </a:rPr>
              <a:t>FedProx</a:t>
            </a:r>
            <a:r>
              <a:rPr sz="1100" dirty="0">
                <a:solidFill>
                  <a:srgbClr val="1E1E1E"/>
                </a:solidFill>
                <a:latin typeface="Times New Roman"/>
              </a:rPr>
              <a:t> reliability-weighted score-level consensus.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71600"/>
          <a:ext cx="11064240" cy="23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64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166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Benchmark Dataset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Tabular Baseline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Baseline + Topology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PR-AUC Lift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Times New Roman"/>
                        </a:rPr>
                        <a:t>Primary Scientific Signal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66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1E1E"/>
                          </a:solidFill>
                          <a:latin typeface="Times New Roman"/>
                        </a:rPr>
                        <a:t>BankSim (Relational Graph)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0.824 ± 0.003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0.921 ± 0.002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1E1E1E"/>
                          </a:solidFill>
                          <a:latin typeface="Times New Roman"/>
                        </a:rPr>
                        <a:t>+11.7%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Strong structural signal; fan-in and degree velocity dominate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66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1E1E"/>
                          </a:solidFill>
                          <a:latin typeface="Times New Roman"/>
                        </a:rPr>
                        <a:t>BankSim Final Champion (TGN)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0.787 ± 0.070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0.936 ± 0.002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+18.9%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Precision@100 = 1.00; collapses seed variance via focal loss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66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1E1E"/>
                          </a:solidFill>
                          <a:latin typeface="Times New Roman"/>
                        </a:rPr>
                        <a:t>IBM AML (Amount-Saturated)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0.991 ± 0.001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0.993 ± 0.001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+0.2%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Baseline saturated by amount; +0.09 lift in amount-blind probe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66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1E1E"/>
                          </a:solidFill>
                          <a:latin typeface="Times New Roman"/>
                        </a:rPr>
                        <a:t>Synthetic ERP (Controlled)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0.876 ± 0.004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0.942 ± 0.003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+7.5%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Circular money flows and structuring patterns clearly separated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67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E1E1E"/>
                          </a:solidFill>
                          <a:latin typeface="Times New Roman"/>
                        </a:rPr>
                        <a:t>Federated Consortium (K=4)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0.855 (Isolated)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0.914 (FedProx)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+5.93%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1E1E1E"/>
                          </a:solidFill>
                          <a:latin typeface="Times New Roman"/>
                        </a:rPr>
                        <a:t>98.91% Centralized Parity; Zero private PII shared across banks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850000"/>
            <a:ext cx="110642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• Structural Lift Validated: </a:t>
            </a:r>
            <a:r>
              <a:rPr sz="1050">
                <a:solidFill>
                  <a:srgbClr val="1E1E1E"/>
                </a:solidFill>
                <a:latin typeface="Times New Roman"/>
              </a:rPr>
              <a:t>Pure graph topology delivers a statistically validated +11.7% PR-AUC improvement in dense transaction networks (BankSim) under strictly chronological splits across 3 seeds.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• Density is the Signal: </a:t>
            </a:r>
            <a:r>
              <a:rPr sz="1050">
                <a:solidFill>
                  <a:srgbClr val="1E1E1E"/>
                </a:solidFill>
                <a:latin typeface="Times New Roman"/>
              </a:rPr>
              <a:t>Simple temporal in-degree and fan-in velocity drive over 90% of topological predictive lift; complex cycle detectors are largely redundant with local density.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• Amount-Blind Independence: </a:t>
            </a:r>
            <a:r>
              <a:rPr sz="1050">
                <a:solidFill>
                  <a:srgbClr val="1E1E1E"/>
                </a:solidFill>
                <a:latin typeface="Times New Roman"/>
              </a:rPr>
              <a:t>In amount-dominated environments (IBM AML), structural features provide a vital orthogonal signal (+0.09 PR-AUC) when transaction amounts are structured to evade thresholds.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100" b="1">
                <a:solidFill>
                  <a:srgbClr val="003366"/>
                </a:solidFill>
                <a:latin typeface="Times New Roman"/>
              </a:rPr>
              <a:t>• Federated Consortium Lift: </a:t>
            </a:r>
            <a:r>
              <a:rPr sz="1050">
                <a:solidFill>
                  <a:srgbClr val="1E1E1E"/>
                </a:solidFill>
                <a:latin typeface="Times New Roman"/>
              </a:rPr>
              <a:t>FedProx score-level consensus recovers 98.91% of centralized detection power with +5.93% collaboration gain across heterogeneous banking clients without raw data sharing.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237564" y="1432041"/>
            <a:ext cx="11716871" cy="4750000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1" dirty="0">
                <a:solidFill>
                  <a:srgbClr val="003366"/>
                </a:solidFill>
                <a:latin typeface="Times New Roman"/>
              </a:rPr>
              <a:t>• Scientific Rigor &amp; Leakage Elimination: </a:t>
            </a:r>
            <a:r>
              <a:rPr sz="1150" dirty="0">
                <a:solidFill>
                  <a:srgbClr val="1E1E1E"/>
                </a:solidFill>
                <a:latin typeface="Times New Roman"/>
              </a:rPr>
              <a:t>Disproved prior literature claims of &gt;99% GNN accuracy by proving they stemmed from lookahead leakage. Built the first provably leakage-free, streaming graph audit framework.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1" dirty="0">
                <a:solidFill>
                  <a:srgbClr val="003366"/>
                </a:solidFill>
                <a:latin typeface="Times New Roman"/>
              </a:rPr>
              <a:t>• Defensible Empirical Value: </a:t>
            </a:r>
            <a:r>
              <a:rPr sz="1150" dirty="0">
                <a:solidFill>
                  <a:srgbClr val="1E1E1E"/>
                </a:solidFill>
                <a:latin typeface="Times New Roman"/>
              </a:rPr>
              <a:t>Confirmed that temporal graph topology provides statistically significant lift (+11.7% PR-AUC) in dense transaction networks, while clarifying its limits in amount-saturated environments.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1" dirty="0">
                <a:solidFill>
                  <a:srgbClr val="003366"/>
                </a:solidFill>
                <a:latin typeface="Times New Roman"/>
              </a:rPr>
              <a:t>• Audit-Grade Human Explainability: </a:t>
            </a:r>
            <a:r>
              <a:rPr sz="1150" dirty="0">
                <a:solidFill>
                  <a:srgbClr val="1E1E1E"/>
                </a:solidFill>
                <a:latin typeface="Times New Roman"/>
              </a:rPr>
              <a:t>Eliminated the deep learning 'black box' by marrying quantitative </a:t>
            </a:r>
            <a:r>
              <a:rPr sz="1150" dirty="0" err="1">
                <a:solidFill>
                  <a:srgbClr val="1E1E1E"/>
                </a:solidFill>
                <a:latin typeface="Times New Roman"/>
              </a:rPr>
              <a:t>TreeSHAP</a:t>
            </a:r>
            <a:r>
              <a:rPr sz="1150" dirty="0">
                <a:solidFill>
                  <a:srgbClr val="1E1E1E"/>
                </a:solidFill>
                <a:latin typeface="Times New Roman"/>
              </a:rPr>
              <a:t> waterfall values with visual Neo4j graph subgraphs, satisfying enterprise regulatory standards (SOX, Basel III).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1" dirty="0">
                <a:solidFill>
                  <a:srgbClr val="003366"/>
                </a:solidFill>
                <a:latin typeface="Times New Roman"/>
              </a:rPr>
              <a:t>• Privacy-Preserving Federation: </a:t>
            </a:r>
            <a:r>
              <a:rPr sz="1150" dirty="0">
                <a:solidFill>
                  <a:srgbClr val="1E1E1E"/>
                </a:solidFill>
                <a:latin typeface="Times New Roman"/>
              </a:rPr>
              <a:t>Demonstrated multi-bank collaborative defense via </a:t>
            </a:r>
            <a:r>
              <a:rPr sz="1150" dirty="0" err="1">
                <a:solidFill>
                  <a:srgbClr val="1E1E1E"/>
                </a:solidFill>
                <a:latin typeface="Times New Roman"/>
              </a:rPr>
              <a:t>FedProx</a:t>
            </a:r>
            <a:r>
              <a:rPr sz="1150" dirty="0">
                <a:solidFill>
                  <a:srgbClr val="1E1E1E"/>
                </a:solidFill>
                <a:latin typeface="Times New Roman"/>
              </a:rPr>
              <a:t> score-level consensus, recovering 98.91% of centralized performance without sharing raw customer financial data.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200" b="1" dirty="0">
                <a:solidFill>
                  <a:srgbClr val="003366"/>
                </a:solidFill>
                <a:latin typeface="Times New Roman"/>
              </a:rPr>
              <a:t>• Enterprise Simulation &amp; Operational Readiness: </a:t>
            </a:r>
            <a:r>
              <a:rPr sz="1150" dirty="0">
                <a:solidFill>
                  <a:srgbClr val="1E1E1E"/>
                </a:solidFill>
                <a:latin typeface="Times New Roman"/>
              </a:rPr>
              <a:t>Built a calibrated synthetic ERP engine and achieved sub-second streaming inference latency, delivering an end-to-end prototype ready for enterprise deployment.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1729" y="1204732"/>
            <a:ext cx="10515600" cy="4811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sz="1000">
                <a:solidFill>
                  <a:srgbClr val="1E1E1E"/>
                </a:solidFill>
                <a:latin typeface="Times New Roman"/>
              </a:rPr>
              <a:t>[1]  S. Motie and B. Raahemi, "Financial fraud detection using graph neural networks: A systematic review," Expert Syst. Appl., vol. 240, Apr. 2024.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[2]  N. Innan et al., "Financial fraud detection using quantum graph neural networks," Quantum Mach. Intell., vol. 6, no. 1, Feb. 2024.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[3]  M. Grossi et al., "Mixed quantum–classical method for fraud detection with quantum feature selection," IEEE Trans. Quantum Eng., vol. 3, 2022.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[4]  R. R. Devi, J. E. Raja, and Y. B. Chin, "RL-GNN fusion for real-time financial fraud detection," Sci. Rep., vol. 15, no. 1, 2025.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[5]  Z. N. Jawad et al., "ML-driven optimization of ERP systems: A comprehensive review," Discov. Artif. Intell., vol. 4, 2024.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[6]  Z. Yuan et al., "A comprehensive survey on GNN-based anomaly detection," ACM Comput. Surv., 2025.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[7]  Y. Shi et al., "Uncertainty-aware spatio-temporal contrastive GNNs for financial fraud detection," in Proc. AAAI, 2026.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[8]  L. Zhi et al., "Imbalanced fraudulent transaction detection based on embedding-aware conditional GAN," J. Big Data, vol. 12, 2025.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[9]  G. Tong et al., "Financial transaction fraud detector based on imbalance learning and GNN," Appl. Intell., vol. 53, 2023.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[10] M. Boyapati et al., "BalancerGNN: Balancer GNNs for imbalanced datasets," IEEE Access, vol. 13, 2025.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[11] X. J. Mamakou et al., "Post-implementation evaluation of ERP systems: An internal auditors’ perspective," Inf. Syst. Manag., 2024.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1000">
                <a:solidFill>
                  <a:srgbClr val="1E1E1E"/>
                </a:solidFill>
                <a:latin typeface="Times New Roman"/>
              </a:rPr>
              <a:t>[12] M. A. Vasarhelyi et al., "The acceptance and adoption of continuous auditing by internal auditors," Int. J. Account. Inf. Syst., vol. 13, no. 3, pp. 267–281, 2012.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sz="1000">
                <a:solidFill>
                  <a:srgbClr val="505050"/>
                </a:solidFill>
                <a:latin typeface="Times New Roman"/>
              </a:rPr>
              <a:t>09-09-2026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2739</Words>
  <Application>Microsoft Office PowerPoint</Application>
  <PresentationFormat>Widescreen</PresentationFormat>
  <Paragraphs>220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B.Tech Computer Science and Engineering
Course Code: BCSE497J – Project-I (Review 2) The Self-Auditing Ledger: Fraud Detection in ERP Systems Using Temporal Graph Topology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Himanshu Ray</cp:lastModifiedBy>
  <cp:revision>5</cp:revision>
  <dcterms:created xsi:type="dcterms:W3CDTF">2026-07-14T06:00:41Z</dcterms:created>
  <dcterms:modified xsi:type="dcterms:W3CDTF">2026-10-04T17:32:33Z</dcterms:modified>
</cp:coreProperties>
</file>