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347360-E398-4E28-BDD4-525522CECCC4}" v="1" dt="2026-10-05T11:27:41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anshu Ray" userId="b2c09a7c988a24d1" providerId="LiveId" clId="{1DA37C1D-4E73-4178-B854-823E7D859280}"/>
    <pc:docChg chg="addSld delSld modSld">
      <pc:chgData name="Himanshu Ray" userId="b2c09a7c988a24d1" providerId="LiveId" clId="{1DA37C1D-4E73-4178-B854-823E7D859280}" dt="2026-10-05T11:27:43.417" v="7" actId="47"/>
      <pc:docMkLst>
        <pc:docMk/>
      </pc:docMkLst>
      <pc:sldChg chg="modSp mod">
        <pc:chgData name="Himanshu Ray" userId="b2c09a7c988a24d1" providerId="LiveId" clId="{1DA37C1D-4E73-4178-B854-823E7D859280}" dt="2026-10-04T16:55:35.818" v="5" actId="1076"/>
        <pc:sldMkLst>
          <pc:docMk/>
          <pc:sldMk cId="2335962491" sldId="261"/>
        </pc:sldMkLst>
        <pc:spChg chg="mod">
          <ac:chgData name="Himanshu Ray" userId="b2c09a7c988a24d1" providerId="LiveId" clId="{1DA37C1D-4E73-4178-B854-823E7D859280}" dt="2026-10-04T16:55:23.129" v="1" actId="1076"/>
          <ac:spMkLst>
            <pc:docMk/>
            <pc:sldMk cId="2335962491" sldId="261"/>
            <ac:spMk id="3" creationId="{6283ADE1-559A-2DC2-A801-6A915E106C60}"/>
          </ac:spMkLst>
        </pc:spChg>
        <pc:spChg chg="mod">
          <ac:chgData name="Himanshu Ray" userId="b2c09a7c988a24d1" providerId="LiveId" clId="{1DA37C1D-4E73-4178-B854-823E7D859280}" dt="2026-10-04T16:55:32.741" v="3" actId="1076"/>
          <ac:spMkLst>
            <pc:docMk/>
            <pc:sldMk cId="2335962491" sldId="261"/>
            <ac:spMk id="7" creationId="{82632EBB-2D05-8D00-7F98-43CBAFAF06ED}"/>
          </ac:spMkLst>
        </pc:spChg>
        <pc:picChg chg="mod">
          <ac:chgData name="Himanshu Ray" userId="b2c09a7c988a24d1" providerId="LiveId" clId="{1DA37C1D-4E73-4178-B854-823E7D859280}" dt="2026-10-04T16:55:33.896" v="4" actId="1076"/>
          <ac:picMkLst>
            <pc:docMk/>
            <pc:sldMk cId="2335962491" sldId="261"/>
            <ac:picMk id="8" creationId="{36180A9B-AA72-E2D6-8362-4CDF7058D84A}"/>
          </ac:picMkLst>
        </pc:picChg>
        <pc:picChg chg="mod">
          <ac:chgData name="Himanshu Ray" userId="b2c09a7c988a24d1" providerId="LiveId" clId="{1DA37C1D-4E73-4178-B854-823E7D859280}" dt="2026-10-04T16:55:35.818" v="5" actId="1076"/>
          <ac:picMkLst>
            <pc:docMk/>
            <pc:sldMk cId="2335962491" sldId="261"/>
            <ac:picMk id="9" creationId="{D1491C9C-07B3-89C3-5FA0-72C9F44F30AC}"/>
          </ac:picMkLst>
        </pc:picChg>
      </pc:sldChg>
      <pc:sldChg chg="del">
        <pc:chgData name="Himanshu Ray" userId="b2c09a7c988a24d1" providerId="LiveId" clId="{1DA37C1D-4E73-4178-B854-823E7D859280}" dt="2026-10-05T11:27:43.417" v="7" actId="47"/>
        <pc:sldMkLst>
          <pc:docMk/>
          <pc:sldMk cId="1256560622" sldId="263"/>
        </pc:sldMkLst>
      </pc:sldChg>
      <pc:sldChg chg="add">
        <pc:chgData name="Himanshu Ray" userId="b2c09a7c988a24d1" providerId="LiveId" clId="{1DA37C1D-4E73-4178-B854-823E7D859280}" dt="2026-10-05T11:27:41.662" v="6"/>
        <pc:sldMkLst>
          <pc:docMk/>
          <pc:sldMk cId="3457113774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464646"/>
                </a:solidFill>
                <a:latin typeface="Times New Roman"/>
              </a:rPr>
              <a:t>BCSE497J – Project-I (Review 2)
B.Tech. Computer Science and Engineering</a:t>
            </a:r>
          </a:p>
          <a:p>
            <a:pPr>
              <a:spcBef>
                <a:spcPts val="600"/>
              </a:spcBef>
            </a:pPr>
            <a:r>
              <a:rPr sz="2200" b="1">
                <a:solidFill>
                  <a:srgbClr val="003366"/>
                </a:solidFill>
                <a:latin typeface="Times New Roman"/>
              </a:rPr>
              <a:t>THE SELF-AUDITING LEDGER:
Fraud Detection in ERP Systems Using Temporal Graph Topology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400" b="1">
                <a:solidFill>
                  <a:srgbClr val="003366"/>
                </a:solidFill>
                <a:latin typeface="Times New Roman"/>
              </a:rPr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23BCE2329 — AARIN BHATTA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23BCE2335 — HIMANSHU RAY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23BCE2349 — MOHAMMED AKIF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003366"/>
                </a:solidFill>
                <a:latin typeface="Times New Roman"/>
              </a:rPr>
              <a:t>Faculty Guide:</a:t>
            </a:r>
          </a:p>
          <a:p>
            <a:r>
              <a:rPr sz="1200">
                <a:solidFill>
                  <a:srgbClr val="1E1E1E"/>
                </a:solidFill>
                <a:latin typeface="Times New Roman"/>
              </a:rPr>
              <a:t>Prof. Dhivya C.R.
Assistant Professor Senior Grade 1
School of Computer Science and Engineering (SCOPE), VIT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439270" y="1393650"/>
            <a:ext cx="10515600" cy="600000"/>
          </a:xfrm>
        </p:spPr>
        <p:txBody>
          <a:bodyPr/>
          <a:lstStyle/>
          <a:p>
            <a:r>
              <a:rPr sz="1400" b="1" dirty="0">
                <a:solidFill>
                  <a:srgbClr val="003366"/>
                </a:solidFill>
                <a:latin typeface="Times New Roman"/>
              </a:rPr>
              <a:t>• Approval obtained from Faculty Guide (Prof. Dhivya C.R.) via official mail: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guide_approval_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63" y="2150000"/>
            <a:ext cx="8074187" cy="40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13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03366"/>
                </a:solidFill>
                <a:latin typeface="Times New Roman"/>
              </a:rPr>
              <a:t>Formal Statement of Aim: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003366"/>
                </a:solidFill>
                <a:latin typeface="Times New Roman"/>
              </a:rPr>
              <a:t>• Construct Streaming Shadow Graph: </a:t>
            </a:r>
            <a:r>
              <a:rPr sz="1300">
                <a:solidFill>
                  <a:srgbClr val="1E1E1E"/>
                </a:solidFill>
                <a:latin typeface="Times New Roman"/>
              </a:rPr>
              <a:t>To design and implement a streaming temporal graph framework directly from enterprise resource planning (ERP) transaction logs, resolving cross-account identity splitting through a unified account namespace.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003366"/>
                </a:solidFill>
                <a:latin typeface="Times New Roman"/>
              </a:rPr>
              <a:t>• Leakage-Free Topology Engine: </a:t>
            </a:r>
            <a:r>
              <a:rPr sz="1300">
                <a:solidFill>
                  <a:srgbClr val="1E1E1E"/>
                </a:solidFill>
                <a:latin typeface="Times New Roman"/>
              </a:rPr>
              <a:t>To engineer a causal as-of graph topology engine operating under strict temporal discipline (no lookahead), verified via automated invariance testing.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003366"/>
                </a:solidFill>
                <a:latin typeface="Times New Roman"/>
              </a:rPr>
              <a:t>• Two-Stage Hybrid Architecture: </a:t>
            </a:r>
            <a:r>
              <a:rPr sz="1300">
                <a:solidFill>
                  <a:srgbClr val="1E1E1E"/>
                </a:solidFill>
                <a:latin typeface="Times New Roman"/>
              </a:rPr>
              <a:t>To combine self-supervised continuous-time Temporal Graph Network (TGN) dynamic node memory embeddings with hand-crafted structural detectors into an XGBoost classifier with focal loss.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003366"/>
                </a:solidFill>
                <a:latin typeface="Times New Roman"/>
              </a:rPr>
              <a:t>• Forensic Audit Explainability: </a:t>
            </a:r>
            <a:r>
              <a:rPr sz="1300">
                <a:solidFill>
                  <a:srgbClr val="1E1E1E"/>
                </a:solidFill>
                <a:latin typeface="Times New Roman"/>
              </a:rPr>
              <a:t>To provide dual-layer human-in-the-loop auditability pairing exact TreeSHAP feature attributions with deterministic graph money-flow path reconstruction for regulatory compliance (SOX / AML).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003366"/>
                </a:solidFill>
                <a:latin typeface="Times New Roman"/>
              </a:rPr>
              <a:t>• Honest Within-Dataset Ablation: </a:t>
            </a:r>
            <a:r>
              <a:rPr sz="1300">
                <a:solidFill>
                  <a:srgbClr val="1E1E1E"/>
                </a:solidFill>
                <a:latin typeface="Times New Roman"/>
              </a:rPr>
              <a:t>To rigorously validate whether graph topology adds statistically significant predictive lift over an equally tuned tabular baseline across a 4-dataset spectrum.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300" b="1">
                <a:solidFill>
                  <a:srgbClr val="003366"/>
                </a:solidFill>
                <a:latin typeface="Times New Roman"/>
              </a:rPr>
              <a:t>• Privacy-Preserving Consortium: </a:t>
            </a:r>
            <a:r>
              <a:rPr sz="1300">
                <a:solidFill>
                  <a:srgbClr val="1E1E1E"/>
                </a:solidFill>
                <a:latin typeface="Times New Roman"/>
              </a:rPr>
              <a:t>To extend the framework into a federated learning architecture (FedProx score-level consensus) enabling collaborative multi-bank defense without raw financial data pooling.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Context &amp; Motivation: </a:t>
            </a:r>
            <a:r>
              <a:rPr sz="1100">
                <a:solidFill>
                  <a:srgbClr val="1E1E1E"/>
                </a:solidFill>
                <a:latin typeface="Times New Roman"/>
              </a:rPr>
              <a:t>Modern enterprise accounting systems process millions of daily journal entries governing billions in capital. Conventional auditing relies on manual sampling (&lt;5% coverage) and isolated single-transaction profiling, leaving ledgers blind to coordinated multi-party fraud typologies (circular payment round-tripping, mule fan-in hubs, rapid layering chains).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Methodological Breakthrough: </a:t>
            </a:r>
            <a:r>
              <a:rPr sz="1100">
                <a:solidFill>
                  <a:srgbClr val="1E1E1E"/>
                </a:solidFill>
                <a:latin typeface="Times New Roman"/>
              </a:rPr>
              <a:t>We introduce The Self-Auditing Ledger, an end-to-end framework that constructs a continuous-time Shadow Graph with unified account identities. An as-of streaming topology engine extracts structural features across trailing time windows without future information lookahead, enforced by automated invariance unit tests.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Two-Stage Learning Pipeline: </a:t>
            </a:r>
            <a:r>
              <a:rPr sz="1100">
                <a:solidFill>
                  <a:srgbClr val="1E1E1E"/>
                </a:solidFill>
                <a:latin typeface="Times New Roman"/>
              </a:rPr>
              <a:t>A 32-dimensional continuous-time TGN module updates dynamic GRU node memories self-supervised solely on link prediction (amount-blind, label-free). These embeddings fuse with explicit topology detectors into a gradient-boosted ensemble trained with alpha-free focal loss, collapsing seed variance on extreme class imbalance.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Empirical Results &amp; Ablation: </a:t>
            </a:r>
            <a:r>
              <a:rPr sz="1100">
                <a:solidFill>
                  <a:srgbClr val="1E1E1E"/>
                </a:solidFill>
                <a:latin typeface="Times New Roman"/>
              </a:rPr>
              <a:t>Across a 4-dataset topology spectrum (BankSim 595k, IBM AML 1.32M, SAP Würzburg 200k, PaySim 6.36M), within-dataset ablation demonstrates +11.7% PR-AUC structural gain on BankSim (champion reaches 0.936 PR-AUC with 1.00 Precision@100). A privacy-preserving FedProx federated extension recovers 98.91% of centralized performance with +5.93% collaboration lift.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Regulatory Auditability: </a:t>
            </a:r>
            <a:r>
              <a:rPr sz="1100">
                <a:solidFill>
                  <a:srgbClr val="1E1E1E"/>
                </a:solidFill>
                <a:latin typeface="Times New Roman"/>
              </a:rPr>
              <a:t>Every flagged alert pairs exact TreeSHAP local attributions with deterministic Neo4j money-flow subgraphs, directly satisfying internal audit defensibility under Sarbanes-Oxley (SOX Section 404) and Basel III standards.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05-10-2026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0000" y="1400000"/>
          <a:ext cx="11000000" cy="4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14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Author(s) &amp; Year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Proposed Methodology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Key Findings &amp; Contribution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Project Alignment &amp; Gap Addressed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42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Motie &amp; Raahemi (2024)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Systematic survey of GNNs in financial fraud (R-GCN, GAT)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Identified neighbor camouflage, multi-hop latency, and latent embedding opacity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We extract explicit named structural shapes (cycles, fan-in) rather than opaque latent vectors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42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Vasarhelyi et al. (2012) &amp; Mamakou (2024)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Continuous Auditing (CA) in ERP environments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Manual audit samples &lt;5% transactions; internal collusion bypasses static SoD controls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Builds automated streaming audit engine covering 100% of ERP entries; fixes 99.3% identity split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42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Rossi et al. (2020)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Temporal Graph Networks (TGN) with dynamic GRU memory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Continuous-time dynamic node embeddings for evolving interaction networks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Integrated continuous-time GRU memory with zero-lookahead self-supervised link prediction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42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Zhi et al. (2025) &amp; Chawla (2002)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Conditional GAN / SMOTE oversampling on fraud graphs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Showed synthetic oversampling creates non-physical graph structures and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Enforces zero synthetic oversampling on graph features; adopts alpha-free focal loss objective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142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Lundberg et al. (2020) &amp; Wang (2023)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TreeSHAP exact attributions &amp; Reinforced Causal Explainers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Exact game-theoretic feature attributions; causal connected subgraphs for fraud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Dual-layer audit alert: exact TreeSHAP feature waterfalls + verified graph-derived money-flow paths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14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Li et al. (2020)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FedProx (Federated Optimization in Heterogeneous Nets)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Tolerates client statistical heterogeneity and local gradient divergence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Reliability-weighted score-level consensus across non-IID banking clients (98.91% centralized recovery)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003366"/>
                </a:solidFill>
                <a:latin typeface="Times New Roman"/>
              </a:rPr>
              <a:t>Pervasive Look-Ahead Data Leakage in Graph ML: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Published literature routinely reports near-perfect metrics (&gt;0.99 ROC-AUC) by computing graph topology over the entire static dataset (including future edges) and evaluating with randomly shuffled cross-validation. When tested under real-world chronological conditions, these models collapse.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003366"/>
                </a:solidFill>
                <a:latin typeface="Times New Roman"/>
              </a:rPr>
              <a:t>The 'Myth of Topology' in Prior Implementations: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The predecessor version of this project claimed 'graph topology is the primary differentiator' — yet internal feature-importance inspection showed every single topology feature had 0.0 importance; signal was derived purely from dollar amounts, with future lookahead in feature engineering.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003366"/>
                </a:solidFill>
                <a:latin typeface="Times New Roman"/>
              </a:rPr>
              <a:t>Absence of Honest Within-Dataset Ablation: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Existing studies fail to rigorously isolate whether graph topology adds statistically meaningful lift over a strong tabular baseline under strict chronological train-val-test partitioning.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003366"/>
                </a:solidFill>
                <a:latin typeface="Times New Roman"/>
              </a:rPr>
              <a:t>Flawed Imbalance Handling in Extreme Rarity (0.01% - 0.1%):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Standard practices simultaneously combine SMOTE oversampling with cost-sensitive class weights, distorting network topology with non-physical graph artifacts ('half-cycles') and unstable gradients.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003366"/>
                </a:solidFill>
                <a:latin typeface="Times New Roman"/>
              </a:rPr>
              <a:t>Severe Non-IID Skew in Cross-Institutional Federation: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Prior federated fraud detection assumes IID data partitions, whereas real financial institutions have highly specialized operational profiles (retail banking vs. high-throughput merchants), causing catastrophic gradient drift under standard FedAvg.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003366"/>
                </a:solidFill>
                <a:latin typeface="Times New Roman"/>
              </a:rPr>
              <a:t>The 'Black-Box' Regulatory Audit Barrier: </a:t>
            </a:r>
            <a:r>
              <a:rPr sz="1250" b="0">
                <a:solidFill>
                  <a:srgbClr val="1E1E1E"/>
                </a:solidFill>
                <a:latin typeface="Times New Roman"/>
              </a:rPr>
              <a:t>Deep graph architectures output scalar risk probabilities without actionable, legally defensible money-flow evidence paths or feature-attribution rationales required by internal audit under SOX Section 404.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6894"/>
            <a:ext cx="10515599" cy="2822376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dirty="0">
                <a:solidFill>
                  <a:srgbClr val="003366"/>
                </a:solidFill>
                <a:latin typeface="Times New Roman"/>
              </a:rPr>
              <a:t>Streaming Temporal Topology Engine: </a:t>
            </a:r>
            <a:r>
              <a:rPr sz="1100" b="0" dirty="0">
                <a:solidFill>
                  <a:srgbClr val="1E1E1E"/>
                </a:solidFill>
                <a:latin typeface="Times New Roman"/>
              </a:rPr>
              <a:t>Construct a causal Shadow Graph with unified account identities, extracting trailing multi-window topology features (cycles, fan-in hubs, lapping) with automated invariance unit test verification.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dirty="0">
                <a:solidFill>
                  <a:srgbClr val="003366"/>
                </a:solidFill>
                <a:latin typeface="Times New Roman"/>
              </a:rPr>
              <a:t>Honest Within-Dataset Ablation: </a:t>
            </a:r>
            <a:r>
              <a:rPr sz="1100" b="0" dirty="0">
                <a:solidFill>
                  <a:srgbClr val="1E1E1E"/>
                </a:solidFill>
                <a:latin typeface="Times New Roman"/>
              </a:rPr>
              <a:t>Rigorously benchmark Tabular Baseline vs. Baseline + Handcrafted Topology vs. Baseline + TGN across 4 datasets spanning a structural spectrum (IBM AML, </a:t>
            </a:r>
            <a:r>
              <a:rPr sz="1100" b="0" dirty="0" err="1">
                <a:solidFill>
                  <a:srgbClr val="1E1E1E"/>
                </a:solidFill>
                <a:latin typeface="Times New Roman"/>
              </a:rPr>
              <a:t>BankSim</a:t>
            </a:r>
            <a:r>
              <a:rPr sz="1100" b="0" dirty="0">
                <a:solidFill>
                  <a:srgbClr val="1E1E1E"/>
                </a:solidFill>
                <a:latin typeface="Times New Roman"/>
              </a:rPr>
              <a:t>, SAP Würzburg, </a:t>
            </a:r>
            <a:r>
              <a:rPr sz="1100" b="0" dirty="0" err="1">
                <a:solidFill>
                  <a:srgbClr val="1E1E1E"/>
                </a:solidFill>
                <a:latin typeface="Times New Roman"/>
              </a:rPr>
              <a:t>PaySim</a:t>
            </a:r>
            <a:r>
              <a:rPr sz="1100" b="0" dirty="0">
                <a:solidFill>
                  <a:srgbClr val="1E1E1E"/>
                </a:solidFill>
                <a:latin typeface="Times New Roman"/>
              </a:rPr>
              <a:t>) over 3 random seeds.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dirty="0">
                <a:solidFill>
                  <a:srgbClr val="003366"/>
                </a:solidFill>
                <a:latin typeface="Times New Roman"/>
              </a:rPr>
              <a:t>Two-Stage Hybrid Learning Pipeline: </a:t>
            </a:r>
            <a:r>
              <a:rPr sz="1100" b="0" dirty="0">
                <a:solidFill>
                  <a:srgbClr val="1E1E1E"/>
                </a:solidFill>
                <a:latin typeface="Times New Roman"/>
              </a:rPr>
              <a:t>Combine self-supervised continuous-time TGN dynamic node memory embeddings with explicit structural detectors into an </a:t>
            </a:r>
            <a:r>
              <a:rPr sz="1100" b="0" dirty="0" err="1">
                <a:solidFill>
                  <a:srgbClr val="1E1E1E"/>
                </a:solidFill>
                <a:latin typeface="Times New Roman"/>
              </a:rPr>
              <a:t>XGBoost</a:t>
            </a:r>
            <a:r>
              <a:rPr sz="1100" b="0" dirty="0">
                <a:solidFill>
                  <a:srgbClr val="1E1E1E"/>
                </a:solidFill>
                <a:latin typeface="Times New Roman"/>
              </a:rPr>
              <a:t> classifier trained with alpha-free focal loss.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dirty="0">
                <a:solidFill>
                  <a:srgbClr val="003366"/>
                </a:solidFill>
                <a:latin typeface="Times New Roman"/>
              </a:rPr>
              <a:t>Dual-Layer Forensic Audit Alerts: </a:t>
            </a:r>
            <a:r>
              <a:rPr sz="1100" b="0" dirty="0">
                <a:solidFill>
                  <a:srgbClr val="1E1E1E"/>
                </a:solidFill>
                <a:latin typeface="Times New Roman"/>
              </a:rPr>
              <a:t>Pair every flagged anomaly with exact </a:t>
            </a:r>
            <a:r>
              <a:rPr sz="1100" b="0" dirty="0" err="1">
                <a:solidFill>
                  <a:srgbClr val="1E1E1E"/>
                </a:solidFill>
                <a:latin typeface="Times New Roman"/>
              </a:rPr>
              <a:t>TreeSHAP</a:t>
            </a:r>
            <a:r>
              <a:rPr sz="1100" b="0" dirty="0">
                <a:solidFill>
                  <a:srgbClr val="1E1E1E"/>
                </a:solidFill>
                <a:latin typeface="Times New Roman"/>
              </a:rPr>
              <a:t> quantitative feature attributions and deterministic Cypher/graph money-flow subgraphs tracing suspicious funds.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 dirty="0">
                <a:solidFill>
                  <a:srgbClr val="003366"/>
                </a:solidFill>
                <a:latin typeface="Times New Roman"/>
              </a:rPr>
              <a:t>Privacy-Preserving Federated Consensus: </a:t>
            </a:r>
            <a:r>
              <a:rPr sz="1100" b="0" dirty="0">
                <a:solidFill>
                  <a:srgbClr val="1E1E1E"/>
                </a:solidFill>
                <a:latin typeface="Times New Roman"/>
              </a:rPr>
              <a:t>Implement a </a:t>
            </a:r>
            <a:r>
              <a:rPr sz="1100" b="0" dirty="0" err="1">
                <a:solidFill>
                  <a:srgbClr val="1E1E1E"/>
                </a:solidFill>
                <a:latin typeface="Times New Roman"/>
              </a:rPr>
              <a:t>FedProx</a:t>
            </a:r>
            <a:r>
              <a:rPr sz="1100" b="0" dirty="0">
                <a:solidFill>
                  <a:srgbClr val="1E1E1E"/>
                </a:solidFill>
                <a:latin typeface="Times New Roman"/>
              </a:rPr>
              <a:t> score-level consensus protocol across non-IID banking institutions, targeting &gt;98% centralized performance recovery without raw data sharing.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3822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 dirty="0">
                <a:solidFill>
                  <a:srgbClr val="003366"/>
                </a:solidFill>
                <a:latin typeface="Times New Roman"/>
              </a:rPr>
              <a:t>Identified SDGs: SDG 16 (Peace, Justice &amp; Strong Institutions — Target 16.5: Anti-Corruption &amp; AML)  |  SDG 8 (Decent Work &amp; Economic Growth — Target 8.10: Financial Resilience)</a:t>
            </a:r>
          </a:p>
          <a:p>
            <a:r>
              <a:rPr sz="1100" b="1" dirty="0">
                <a:solidFill>
                  <a:srgbClr val="A01414"/>
                </a:solidFill>
                <a:latin typeface="Times New Roman"/>
              </a:rPr>
              <a:t>Project Outcomes: Scopus-Indexed Conference / Journal Publication  |  Production Forensic Audit Platform &amp; Web Console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89" y="4576557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884" y="4318342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450000"/>
            <a:ext cx="6800000" cy="465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00000" y="1450000"/>
            <a:ext cx="4200000" cy="4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Phase 1: Ingestion &amp; Shadow Graph: </a:t>
            </a:r>
            <a:r>
              <a:rPr sz="1050">
                <a:solidFill>
                  <a:srgbClr val="1E1E1E"/>
                </a:solidFill>
                <a:latin typeface="Times New Roman"/>
              </a:rPr>
              <a:t>Canonicalizes heterogeneous ERP CSVs into a unified account namespace; builds dynamic directed multigraph G=(V, E, t).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Phase 2: Streaming As-Of Topology: </a:t>
            </a:r>
            <a:r>
              <a:rPr sz="1050">
                <a:solidFill>
                  <a:srgbClr val="1E1E1E"/>
                </a:solidFill>
                <a:latin typeface="Times New Roman"/>
              </a:rPr>
              <a:t>Trailing sliding-window detectors (cycles L≤5, fan-in hubs, burstiness, lapping) with strict zero-lookahead temporal causality.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Phase 3: Continuous-Time TGN: </a:t>
            </a:r>
            <a:r>
              <a:rPr sz="1050">
                <a:solidFill>
                  <a:srgbClr val="1E1E1E"/>
                </a:solidFill>
                <a:latin typeface="Times New Roman"/>
              </a:rPr>
              <a:t>32-dim inductive GRU node memory updated per transaction; self-supervised link prediction (amount-blind, label-free).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Phase 4: Two-Stage Classification: </a:t>
            </a:r>
            <a:r>
              <a:rPr sz="1050">
                <a:solidFill>
                  <a:srgbClr val="1E1E1E"/>
                </a:solidFill>
                <a:latin typeface="Times New Roman"/>
              </a:rPr>
              <a:t>Chronological 70/15/15 time split; Bayesian HPO; alpha-free focal loss (γ=2.0); validation threshold tuning on PR-AUC.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Phase 5: Dual Explainable Alerts: </a:t>
            </a:r>
            <a:r>
              <a:rPr sz="1050">
                <a:solidFill>
                  <a:srgbClr val="1E1E1E"/>
                </a:solidFill>
                <a:latin typeface="Times New Roman"/>
              </a:rPr>
              <a:t>Decomposes risk via exact TreeSHAP waterfalls + deterministic Neo4j money-flow subgraphs for SOX 404 compliance.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Phase 6: Privacy-Preserving Federation: </a:t>
            </a:r>
            <a:r>
              <a:rPr sz="1050">
                <a:solidFill>
                  <a:srgbClr val="1E1E1E"/>
                </a:solidFill>
                <a:latin typeface="Times New Roman"/>
              </a:rPr>
              <a:t>FedProx score-level consensus across non-IID banking clients with reliability weighting (98.91% centralized recovery).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FR 1: Unified Namespace Account Ingestion: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Normalizes heterogeneous ERP accounting structures into a single account namespace, completely eliminating cross-account identity splitting (fixing the 99.3% collision bug).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FR 2: As-Of Streaming Graph Traversal: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Streams timestamped transactions incrementally; enforces strict backward-only lookups (t_i ≤ t) across sliding observation windows (1h, 24h, 7d, 30d).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FR 3: Trailing Multi-Window Topology Extraction: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Computes circular payment cycles (depth 2..5), fan-in mule concentration, in-degree density, and temporal lapping across trailing time horizons.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FR 4: Automated Invariance Leakage Testing: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Automated test suite executes truncation-invariance and future-corruption-invariance unit tests; CI build fails on any lookahead leakage.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FR 5: Zero-Lookahead Continuous-Time TGN: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Maintains 32-dim inductive GRU node memory embeddings updated via past link predictions, trained strictly amount-blind and label-free.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FR 6: Single-Imbalance Gradient Boosting: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Trains XGBoost with exactly one mechanism (focal loss or class weights; never both to prevent severe gradient over-weighting).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FR 7: Chronological Post-Split Threshold Tuning: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Optimizes the decision threshold strictly on the chronological validation split; locks threshold prior to test-set evaluation.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FR 8: Dual Forensic Explainability Dispatch: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Decomposes predicted risk into exact TreeSHAP attributions and outputs deterministic graph subgraphs tracing money-flow paths.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FR 9: Privacy-Preserving Federated Consensus: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Aggregates distributed banking predictions using reliability-weighted FedProx score consensus without raw customer transaction pooling.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Module 1: Ingestion &amp; Shadow Graph Core (src/etl/, src/topology/window_graph.py):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Canonicalizes heterogeneous transaction datasets (IBM AML, BankSim, SAP Würzburg, PaySim); implements unified account namespace hashing; builds dynamic directed multigraph.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Module 2: Streaming Temporal Topology Engine (src/topology/detectors/):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Causal sliding-window feature extractors: cycle detection (Tarjan/DFS), fan-in/out concentration, chain length, degree burstiness, and temporal lapping with zero lookahead.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Module 3: Representation Learning Module (src/modeling/tgn.py):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Continuous-time dynamic graph network with 32-dim GRU memory per node; link prediction loss; completely amount-blind and label-free.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Module 4: Supervised Learning &amp; Optimization Engine (src/modeling/trainer.py, hpo.py):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Chronological 70/15/15 time split; Bayesian hyperparameter optimization (20 trials); focal loss (γ=2.0); validation threshold tuning across PR-AUC.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Module 5: Forensic Explainability &amp; Path Tracing (src/explainability/):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Exact TreeSHAP feature attributions partitioned into Ordinary, Topology, and TGN families; Cypher-compatible verified graph path reconstructor.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Module 6: Federated Consortium Engine (src/federated/):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Multi-client simulation (K=2..5) under severe non-IID Dirichlet distribution; FedProx optimizer with score-level consensus and client reliability weighting.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Module 7: Interactive Forensic Audit Console (web/):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Production React 18 + Vite interface: live alert triage, interactive SHAP waterfall decomposition, dynamic graph path visualization, and federated consortium monitor.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0000" y="1400000"/>
            <a:ext cx="6000000" cy="4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3366"/>
                </a:solidFill>
                <a:latin typeface="Times New Roman"/>
              </a:rPr>
              <a:t>Experimental Benchmark &amp; Ablation Findings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BankSim (595k txns, 1,320 test frauds — relational graph):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   • Baseline (Tabular only): 0.787 ± 0.070 PR-AUC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   • + Handcrafted Topology: 0.932 ± 0.002 PR-AUC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   • + TGN Continuous Embeddings: 0.920 ± 0.001 PR-AUC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1E1E1E"/>
                </a:solidFill>
                <a:latin typeface="Times New Roman"/>
              </a:rPr>
              <a:t>   • Final Champion (Topo+TGN+focal+HPO): 0.936 ± 0.002 PR-AUC, Precision@100 = 1.00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1E1E1E"/>
                </a:solidFill>
                <a:latin typeface="Times New Roman"/>
              </a:rPr>
              <a:t>   • Within-Dataset Ablation Lift: +11.7% pure structural PR-AUC gain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IBM AML (1.32M txns, 377 test frauds — amount-saturated):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1E1E1E"/>
                </a:solidFill>
                <a:latin typeface="Times New Roman"/>
              </a:rPr>
              <a:t>   • Baseline: 0.992 ± 0.003  |  Final Champion: 1.000 ± 0.000, Precision@100 = 1.00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   • Amount-blind ablation: +0.090 PR-AUC structural gain when amounts hidden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SAP Würzburg (200k txns, 25 test frauds):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   • PR-AUC: 0.169 ± 0.052 (inconclusive sample size; transparently reported)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Federated Consortium (BankSim, K=4 Non-IID Banks):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   • Isolated Local Model: 0.855 PR-AUC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1E1E1E"/>
                </a:solidFill>
                <a:latin typeface="Times New Roman"/>
              </a:rPr>
              <a:t>   • FedProx Consortium: 0.914 PR-AUC (+5.93% Lift, 98.91% Centralized Parity)</a:t>
            </a:r>
          </a:p>
        </p:txBody>
      </p:sp>
      <p:pic>
        <p:nvPicPr>
          <p:cNvPr id="8" name="Picture 7" descr="ablation_lift_by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000" y="1400000"/>
            <a:ext cx="5000000" cy="4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Conditional Utility of Graph Topology: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Graph structure adds real, statistically validated predictive value (+11.7% PR-AUC on BankSim) specifically when fraud typologies involve network patterns (fan-in mule accounts, circular rings). When fraud is strictly amount-driven, tabular baselines already capture the signal.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Occam's Razor in Network Features: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Simple density metrics (in-degree velocity, fan-in burstiness) capture &gt;90% of the topological signal under streaming conditions; elaborate higher-order cycle and lapping detectors are predictively redundant.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Elimination of Temporal Lookahead Leakage: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Strict as-of streaming graph traversal and automated invariance testing are essential for real-world viability; prior 99.7% ROC-AUC literature claims were inflated artifacts of temporal lookahead.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Best-of-Both-Worlds Two-Stage Architecture: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Coupling continuous-time self-supervised TGN node memory with gradient-boosted trees yields state-of-the-art precision while preserving regulatory TreeSHAP interpretability and verifiable path evidence.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Effective Privacy-Preserving Federation: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FedProx reliability-weighted score-level consensus recovers 98.91% of centralized performance across non-IID banking clients without exposing proprietary customer financial data.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Honesty as a Scientific Contribution: </a:t>
            </a:r>
            <a:r>
              <a:rPr sz="1150" b="0">
                <a:solidFill>
                  <a:srgbClr val="1E1E1E"/>
                </a:solidFill>
                <a:latin typeface="Times New Roman"/>
              </a:rPr>
              <a:t>Transparently documenting negative results (synthetic augmentation hurt PR-AUC), inconclusive datasets (SAP sample size), and self-corrected methodology establishes an accountable, reproducible standard for financial AI.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47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</a:pPr>
            <a:r>
              <a:rPr sz="1000">
                <a:solidFill>
                  <a:srgbClr val="1E1E1E"/>
                </a:solidFill>
                <a:latin typeface="Times New Roman"/>
              </a:rPr>
              <a:t>[1] R. J. Bolton and D. J. Hand, "Statistical fraud detection: A review," Statistical Science, vol. 17, no. 3, pp. 235–255, 2002.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[2] T. Chen and C. Guestrin, "XGBoost: A scalable tree boosting system," in Proc. 22nd ACM SIGKDD Int. Conf. Knowl. Discovery Data Mining (KDD), 2016, pp. 785–794.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[3] E. Rossi et al., "Temporal graph networks for deep learning on dynamic graphs," arXiv preprint arXiv:2006.10637, 2020.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[4] N. V. Chawla et al., "SMOTE: Synthetic minority over-sampling technique," Journal of Artificial Intelligence Research, vol. 16, pp. 321–357, 2002.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[5] T.-Y. Lin et al., "Focal loss for dense object detection," in Proc. IEEE Int. Conf. Computer Vision (ICCV), 2017, pp. 2980–2988.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[6] S. M. Lundberg et al., "From local explanations to global understanding with explainable AI for trees," Nature Machine Intelligence, vol. 2, no. 1, pp. 56–67, 2020.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[7] L. Grinsztajn et al., "Why do tree-based models still outperform deep learning on typical tabular data?," Advances in Neural Information Processing Systems (NeurIPS), vol. 35, 2022.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[8] T. Li et al., "Federated optimization in heterogeneous networks," in Proc. 3rd MLSys Conf., 2020.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[9] J. Davis and M. Goadrich, "The relationship between PR and ROC curves," in Proc. 23rd Int. Conf. Machine Learning (ICML), 2006, pp. 233–240.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[10] S. Motie and M. Raahemi, "Graph neural networks for financial fraud detection: A systematic literature review," ACM Computing Surveys, 2024.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2760</Words>
  <Application>Microsoft Office PowerPoint</Application>
  <PresentationFormat>Widescreen</PresentationFormat>
  <Paragraphs>163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BCSE497J – Project-I (Review 2)
B.Tech. Computer Science and Engineering THE SELF-AUDITING LEDGER:
Fraud Detection in ERP Systems Using Temporal Graph Topology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Himanshu Ray</cp:lastModifiedBy>
  <cp:revision>5</cp:revision>
  <dcterms:created xsi:type="dcterms:W3CDTF">2026-07-14T06:00:41Z</dcterms:created>
  <dcterms:modified xsi:type="dcterms:W3CDTF">2026-10-05T11:27:50Z</dcterms:modified>
</cp:coreProperties>
</file>