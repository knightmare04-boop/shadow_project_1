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 lvl="0">
      <a:defRPr lang="en-US"/>
    </a:defPPr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3BC9C-DAC7-4F07-8A0B-8D0FA3FC0F00}" v="11" dt="2026-09-09T05:30:50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rin Bhatta" userId="b6d9ad1ee625d9c1" providerId="LiveId" clId="{8B7C5281-C583-4B19-9272-2469D3C3B7BF}"/>
    <pc:docChg chg="undo custSel addSld delSld modSld">
      <pc:chgData name="Aarin Bhatta" userId="b6d9ad1ee625d9c1" providerId="LiveId" clId="{8B7C5281-C583-4B19-9272-2469D3C3B7BF}" dt="2026-09-09T05:30:58.608" v="93" actId="404"/>
      <pc:docMkLst>
        <pc:docMk/>
      </pc:docMkLst>
      <pc:sldChg chg="addSp delSp modSp mod">
        <pc:chgData name="Aarin Bhatta" userId="b6d9ad1ee625d9c1" providerId="LiveId" clId="{8B7C5281-C583-4B19-9272-2469D3C3B7BF}" dt="2026-09-09T05:23:57.748" v="5" actId="14100"/>
        <pc:sldMkLst>
          <pc:docMk/>
          <pc:sldMk cId="1256560622" sldId="257"/>
        </pc:sldMkLst>
        <pc:spChg chg="mod">
          <ac:chgData name="Aarin Bhatta" userId="b6d9ad1ee625d9c1" providerId="LiveId" clId="{8B7C5281-C583-4B19-9272-2469D3C3B7BF}" dt="2026-09-09T05:23:53.715" v="4" actId="5793"/>
          <ac:spMkLst>
            <pc:docMk/>
            <pc:sldMk cId="1256560622" sldId="257"/>
            <ac:spMk id="3" creationId="{8233367C-DAD6-6E34-D21A-A981C09442F2}"/>
          </ac:spMkLst>
        </pc:spChg>
        <pc:picChg chg="add mod">
          <ac:chgData name="Aarin Bhatta" userId="b6d9ad1ee625d9c1" providerId="LiveId" clId="{8B7C5281-C583-4B19-9272-2469D3C3B7BF}" dt="2026-09-09T05:23:57.748" v="5" actId="14100"/>
          <ac:picMkLst>
            <pc:docMk/>
            <pc:sldMk cId="1256560622" sldId="257"/>
            <ac:picMk id="8" creationId="{A3EACD31-CC9F-213B-7E78-579761228EA8}"/>
          </ac:picMkLst>
        </pc:picChg>
        <pc:picChg chg="del mod">
          <ac:chgData name="Aarin Bhatta" userId="b6d9ad1ee625d9c1" providerId="LiveId" clId="{8B7C5281-C583-4B19-9272-2469D3C3B7BF}" dt="2026-09-09T05:22:50.975" v="1" actId="478"/>
          <ac:picMkLst>
            <pc:docMk/>
            <pc:sldMk cId="1256560622" sldId="257"/>
            <ac:picMk id="10" creationId="{8CFF88D1-7A15-E122-39FA-9C7DA1DFCDF4}"/>
          </ac:picMkLst>
        </pc:picChg>
      </pc:sldChg>
      <pc:sldChg chg="modSp mod">
        <pc:chgData name="Aarin Bhatta" userId="b6d9ad1ee625d9c1" providerId="LiveId" clId="{8B7C5281-C583-4B19-9272-2469D3C3B7BF}" dt="2026-09-09T05:24:10.865" v="10" actId="5793"/>
        <pc:sldMkLst>
          <pc:docMk/>
          <pc:sldMk cId="2543518868" sldId="258"/>
        </pc:sldMkLst>
        <pc:spChg chg="mod">
          <ac:chgData name="Aarin Bhatta" userId="b6d9ad1ee625d9c1" providerId="LiveId" clId="{8B7C5281-C583-4B19-9272-2469D3C3B7BF}" dt="2026-09-09T05:24:10.865" v="10" actId="5793"/>
          <ac:spMkLst>
            <pc:docMk/>
            <pc:sldMk cId="2543518868" sldId="258"/>
            <ac:spMk id="3" creationId="{4D68A428-04DA-E6A8-7606-5D2FE5F31C52}"/>
          </ac:spMkLst>
        </pc:spChg>
      </pc:sldChg>
      <pc:sldChg chg="modSp mod">
        <pc:chgData name="Aarin Bhatta" userId="b6d9ad1ee625d9c1" providerId="LiveId" clId="{8B7C5281-C583-4B19-9272-2469D3C3B7BF}" dt="2026-09-09T05:24:22.729" v="13" actId="5793"/>
        <pc:sldMkLst>
          <pc:docMk/>
          <pc:sldMk cId="3453097932" sldId="259"/>
        </pc:sldMkLst>
        <pc:spChg chg="mod">
          <ac:chgData name="Aarin Bhatta" userId="b6d9ad1ee625d9c1" providerId="LiveId" clId="{8B7C5281-C583-4B19-9272-2469D3C3B7BF}" dt="2026-09-09T05:24:22.729" v="13" actId="5793"/>
          <ac:spMkLst>
            <pc:docMk/>
            <pc:sldMk cId="3453097932" sldId="259"/>
            <ac:spMk id="3" creationId="{35DDED8F-1EBD-2E10-598E-0CA3F56F05DF}"/>
          </ac:spMkLst>
        </pc:spChg>
      </pc:sldChg>
      <pc:sldChg chg="delSp del mod">
        <pc:chgData name="Aarin Bhatta" userId="b6d9ad1ee625d9c1" providerId="LiveId" clId="{8B7C5281-C583-4B19-9272-2469D3C3B7BF}" dt="2026-09-09T05:25:42.668" v="33" actId="2696"/>
        <pc:sldMkLst>
          <pc:docMk/>
          <pc:sldMk cId="857449727" sldId="260"/>
        </pc:sldMkLst>
        <pc:picChg chg="del">
          <ac:chgData name="Aarin Bhatta" userId="b6d9ad1ee625d9c1" providerId="LiveId" clId="{8B7C5281-C583-4B19-9272-2469D3C3B7BF}" dt="2026-09-09T05:24:30.792" v="14" actId="478"/>
          <ac:picMkLst>
            <pc:docMk/>
            <pc:sldMk cId="857449727" sldId="260"/>
            <ac:picMk id="7" creationId="{2EB6993A-B8FB-1E92-71D4-98155A7EDC1C}"/>
          </ac:picMkLst>
        </pc:picChg>
      </pc:sldChg>
      <pc:sldChg chg="addSp delSp modSp mod">
        <pc:chgData name="Aarin Bhatta" userId="b6d9ad1ee625d9c1" providerId="LiveId" clId="{8B7C5281-C583-4B19-9272-2469D3C3B7BF}" dt="2026-09-09T05:26:16.048" v="49" actId="20577"/>
        <pc:sldMkLst>
          <pc:docMk/>
          <pc:sldMk cId="2623102820" sldId="261"/>
        </pc:sldMkLst>
        <pc:spChg chg="del">
          <ac:chgData name="Aarin Bhatta" userId="b6d9ad1ee625d9c1" providerId="LiveId" clId="{8B7C5281-C583-4B19-9272-2469D3C3B7BF}" dt="2026-09-09T05:25:56.149" v="34" actId="478"/>
          <ac:spMkLst>
            <pc:docMk/>
            <pc:sldMk cId="2623102820" sldId="261"/>
            <ac:spMk id="2" creationId="{A2430A72-466B-CBDE-2F02-635BA91A98AF}"/>
          </ac:spMkLst>
        </pc:spChg>
        <pc:spChg chg="del mod">
          <ac:chgData name="Aarin Bhatta" userId="b6d9ad1ee625d9c1" providerId="LiveId" clId="{8B7C5281-C583-4B19-9272-2469D3C3B7BF}" dt="2026-09-09T05:25:56.149" v="34" actId="478"/>
          <ac:spMkLst>
            <pc:docMk/>
            <pc:sldMk cId="2623102820" sldId="261"/>
            <ac:spMk id="3" creationId="{F07F8AC8-6380-9217-CA4C-1FBF1C25C60E}"/>
          </ac:spMkLst>
        </pc:spChg>
        <pc:spChg chg="del">
          <ac:chgData name="Aarin Bhatta" userId="b6d9ad1ee625d9c1" providerId="LiveId" clId="{8B7C5281-C583-4B19-9272-2469D3C3B7BF}" dt="2026-09-09T05:25:56.149" v="34" actId="478"/>
          <ac:spMkLst>
            <pc:docMk/>
            <pc:sldMk cId="2623102820" sldId="261"/>
            <ac:spMk id="4" creationId="{2E07AC55-BA5E-4123-39E6-B79860C6C9EE}"/>
          </ac:spMkLst>
        </pc:spChg>
        <pc:spChg chg="del">
          <ac:chgData name="Aarin Bhatta" userId="b6d9ad1ee625d9c1" providerId="LiveId" clId="{8B7C5281-C583-4B19-9272-2469D3C3B7BF}" dt="2026-09-09T05:25:56.149" v="34" actId="478"/>
          <ac:spMkLst>
            <pc:docMk/>
            <pc:sldMk cId="2623102820" sldId="261"/>
            <ac:spMk id="5" creationId="{1711DDA3-7A7C-1F61-1795-3A01ED678FAB}"/>
          </ac:spMkLst>
        </pc:spChg>
        <pc:spChg chg="del">
          <ac:chgData name="Aarin Bhatta" userId="b6d9ad1ee625d9c1" providerId="LiveId" clId="{8B7C5281-C583-4B19-9272-2469D3C3B7BF}" dt="2026-09-09T05:25:56.149" v="34" actId="478"/>
          <ac:spMkLst>
            <pc:docMk/>
            <pc:sldMk cId="2623102820" sldId="261"/>
            <ac:spMk id="6" creationId="{D94E3226-1DB1-3A4D-CE37-4A2AD48EF1F1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8" creationId="{3E302B9F-8A04-A21C-9CC9-A92FEA39EE76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0" creationId="{321201FA-D2EF-3E9D-86E4-7F9B249FFAAA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1" creationId="{E1F47A22-E0B3-2FCE-CA62-A6D89C02B2AF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2" creationId="{6DD03899-D888-5B5D-6C78-3023A8A15E52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3" creationId="{2BA8102A-274A-A36C-D21E-35A1BF7ACF83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4" creationId="{F0BBCF5F-0921-94E4-2B86-D9F3FC96A43D}"/>
          </ac:spMkLst>
        </pc:spChg>
        <pc:spChg chg="add del mod">
          <ac:chgData name="Aarin Bhatta" userId="b6d9ad1ee625d9c1" providerId="LiveId" clId="{8B7C5281-C583-4B19-9272-2469D3C3B7BF}" dt="2026-09-09T05:25:57.422" v="36" actId="478"/>
          <ac:spMkLst>
            <pc:docMk/>
            <pc:sldMk cId="2623102820" sldId="261"/>
            <ac:spMk id="15" creationId="{34E16CF1-938C-6762-01B7-5FB35FE6C829}"/>
          </ac:spMkLst>
        </pc:spChg>
        <pc:spChg chg="add mod">
          <ac:chgData name="Aarin Bhatta" userId="b6d9ad1ee625d9c1" providerId="LiveId" clId="{8B7C5281-C583-4B19-9272-2469D3C3B7BF}" dt="2026-09-09T05:25:58.072" v="37"/>
          <ac:spMkLst>
            <pc:docMk/>
            <pc:sldMk cId="2623102820" sldId="261"/>
            <ac:spMk id="16" creationId="{24F9226B-00C8-0F39-4E9F-98727A1E228B}"/>
          </ac:spMkLst>
        </pc:spChg>
        <pc:spChg chg="add mod">
          <ac:chgData name="Aarin Bhatta" userId="b6d9ad1ee625d9c1" providerId="LiveId" clId="{8B7C5281-C583-4B19-9272-2469D3C3B7BF}" dt="2026-09-09T05:25:58.072" v="37"/>
          <ac:spMkLst>
            <pc:docMk/>
            <pc:sldMk cId="2623102820" sldId="261"/>
            <ac:spMk id="17" creationId="{0B83C472-3E64-5231-599F-06E474D72043}"/>
          </ac:spMkLst>
        </pc:spChg>
        <pc:spChg chg="add mod">
          <ac:chgData name="Aarin Bhatta" userId="b6d9ad1ee625d9c1" providerId="LiveId" clId="{8B7C5281-C583-4B19-9272-2469D3C3B7BF}" dt="2026-09-09T05:26:16.048" v="49" actId="20577"/>
          <ac:spMkLst>
            <pc:docMk/>
            <pc:sldMk cId="2623102820" sldId="261"/>
            <ac:spMk id="18" creationId="{39A3456A-F5F5-4F92-6F84-7377997E4D55}"/>
          </ac:spMkLst>
        </pc:spChg>
        <pc:spChg chg="add mod">
          <ac:chgData name="Aarin Bhatta" userId="b6d9ad1ee625d9c1" providerId="LiveId" clId="{8B7C5281-C583-4B19-9272-2469D3C3B7BF}" dt="2026-09-09T05:25:58.072" v="37"/>
          <ac:spMkLst>
            <pc:docMk/>
            <pc:sldMk cId="2623102820" sldId="261"/>
            <ac:spMk id="19" creationId="{9EF1397A-DA8B-30EF-626E-58B56055DA6A}"/>
          </ac:spMkLst>
        </pc:spChg>
        <pc:spChg chg="add mod">
          <ac:chgData name="Aarin Bhatta" userId="b6d9ad1ee625d9c1" providerId="LiveId" clId="{8B7C5281-C583-4B19-9272-2469D3C3B7BF}" dt="2026-09-09T05:25:58.072" v="37"/>
          <ac:spMkLst>
            <pc:docMk/>
            <pc:sldMk cId="2623102820" sldId="261"/>
            <ac:spMk id="20" creationId="{11F0607F-1C7E-E9D1-5757-986F3CEFFB73}"/>
          </ac:spMkLst>
        </pc:spChg>
      </pc:sldChg>
      <pc:sldChg chg="modSp mod">
        <pc:chgData name="Aarin Bhatta" userId="b6d9ad1ee625d9c1" providerId="LiveId" clId="{8B7C5281-C583-4B19-9272-2469D3C3B7BF}" dt="2026-09-09T05:27:09.463" v="60" actId="1076"/>
        <pc:sldMkLst>
          <pc:docMk/>
          <pc:sldMk cId="2335962491" sldId="262"/>
        </pc:sldMkLst>
        <pc:spChg chg="mod">
          <ac:chgData name="Aarin Bhatta" userId="b6d9ad1ee625d9c1" providerId="LiveId" clId="{8B7C5281-C583-4B19-9272-2469D3C3B7BF}" dt="2026-09-09T05:26:41.229" v="53" actId="27636"/>
          <ac:spMkLst>
            <pc:docMk/>
            <pc:sldMk cId="2335962491" sldId="262"/>
            <ac:spMk id="3" creationId="{6283ADE1-559A-2DC2-A801-6A915E106C60}"/>
          </ac:spMkLst>
        </pc:spChg>
        <pc:spChg chg="mod">
          <ac:chgData name="Aarin Bhatta" userId="b6d9ad1ee625d9c1" providerId="LiveId" clId="{8B7C5281-C583-4B19-9272-2469D3C3B7BF}" dt="2026-09-09T05:27:06.056" v="58" actId="1076"/>
          <ac:spMkLst>
            <pc:docMk/>
            <pc:sldMk cId="2335962491" sldId="262"/>
            <ac:spMk id="7" creationId="{82632EBB-2D05-8D00-7F98-43CBAFAF06ED}"/>
          </ac:spMkLst>
        </pc:spChg>
        <pc:spChg chg="mod">
          <ac:chgData name="Aarin Bhatta" userId="b6d9ad1ee625d9c1" providerId="LiveId" clId="{8B7C5281-C583-4B19-9272-2469D3C3B7BF}" dt="2026-09-09T05:26:49.452" v="54" actId="1076"/>
          <ac:spMkLst>
            <pc:docMk/>
            <pc:sldMk cId="2335962491" sldId="262"/>
            <ac:spMk id="10" creationId="{00000000-0000-0000-0000-000000000000}"/>
          </ac:spMkLst>
        </pc:spChg>
        <pc:picChg chg="mod">
          <ac:chgData name="Aarin Bhatta" userId="b6d9ad1ee625d9c1" providerId="LiveId" clId="{8B7C5281-C583-4B19-9272-2469D3C3B7BF}" dt="2026-09-09T05:27:09.463" v="60" actId="1076"/>
          <ac:picMkLst>
            <pc:docMk/>
            <pc:sldMk cId="2335962491" sldId="262"/>
            <ac:picMk id="9" creationId="{D1491C9C-07B3-89C3-5FA0-72C9F44F30AC}"/>
          </ac:picMkLst>
        </pc:picChg>
      </pc:sldChg>
      <pc:sldChg chg="modSp mod">
        <pc:chgData name="Aarin Bhatta" userId="b6d9ad1ee625d9c1" providerId="LiveId" clId="{8B7C5281-C583-4B19-9272-2469D3C3B7BF}" dt="2026-09-09T05:30:58.608" v="93" actId="404"/>
        <pc:sldMkLst>
          <pc:docMk/>
          <pc:sldMk cId="3191299214" sldId="264"/>
        </pc:sldMkLst>
        <pc:spChg chg="mod">
          <ac:chgData name="Aarin Bhatta" userId="b6d9ad1ee625d9c1" providerId="LiveId" clId="{8B7C5281-C583-4B19-9272-2469D3C3B7BF}" dt="2026-09-09T05:30:58.608" v="93" actId="404"/>
          <ac:spMkLst>
            <pc:docMk/>
            <pc:sldMk cId="3191299214" sldId="264"/>
            <ac:spMk id="3" creationId="{EEF324FF-B70A-2FC0-8FD0-C802E31DDBD0}"/>
          </ac:spMkLst>
        </pc:spChg>
      </pc:sldChg>
      <pc:sldChg chg="modSp mod">
        <pc:chgData name="Aarin Bhatta" userId="b6d9ad1ee625d9c1" providerId="LiveId" clId="{8B7C5281-C583-4B19-9272-2469D3C3B7BF}" dt="2026-09-09T05:28:03.048" v="72" actId="5793"/>
        <pc:sldMkLst>
          <pc:docMk/>
          <pc:sldMk cId="3799870327" sldId="265"/>
        </pc:sldMkLst>
        <pc:spChg chg="mod">
          <ac:chgData name="Aarin Bhatta" userId="b6d9ad1ee625d9c1" providerId="LiveId" clId="{8B7C5281-C583-4B19-9272-2469D3C3B7BF}" dt="2026-09-09T05:28:03.048" v="72" actId="5793"/>
          <ac:spMkLst>
            <pc:docMk/>
            <pc:sldMk cId="3799870327" sldId="265"/>
            <ac:spMk id="3" creationId="{A93F2560-A5FE-A724-8F39-E7E901E8FADC}"/>
          </ac:spMkLst>
        </pc:spChg>
      </pc:sldChg>
      <pc:sldChg chg="modSp mod">
        <pc:chgData name="Aarin Bhatta" userId="b6d9ad1ee625d9c1" providerId="LiveId" clId="{8B7C5281-C583-4B19-9272-2469D3C3B7BF}" dt="2026-09-09T05:27:40.248" v="67" actId="5793"/>
        <pc:sldMkLst>
          <pc:docMk/>
          <pc:sldMk cId="1317498737" sldId="267"/>
        </pc:sldMkLst>
        <pc:spChg chg="mod">
          <ac:chgData name="Aarin Bhatta" userId="b6d9ad1ee625d9c1" providerId="LiveId" clId="{8B7C5281-C583-4B19-9272-2469D3C3B7BF}" dt="2026-09-09T05:27:40.248" v="67" actId="5793"/>
          <ac:spMkLst>
            <pc:docMk/>
            <pc:sldMk cId="1317498737" sldId="267"/>
            <ac:spMk id="3" creationId="{004F33DD-84F0-A7F9-A1DC-A4DEA1A7D846}"/>
          </ac:spMkLst>
        </pc:spChg>
      </pc:sldChg>
      <pc:sldChg chg="modSp mod">
        <pc:chgData name="Aarin Bhatta" userId="b6d9ad1ee625d9c1" providerId="LiveId" clId="{8B7C5281-C583-4B19-9272-2469D3C3B7BF}" dt="2026-09-09T05:27:31.669" v="63" actId="1076"/>
        <pc:sldMkLst>
          <pc:docMk/>
          <pc:sldMk cId="3510526248" sldId="268"/>
        </pc:sldMkLst>
        <pc:spChg chg="mod">
          <ac:chgData name="Aarin Bhatta" userId="b6d9ad1ee625d9c1" providerId="LiveId" clId="{8B7C5281-C583-4B19-9272-2469D3C3B7BF}" dt="2026-09-09T05:27:31.669" v="63" actId="1076"/>
          <ac:spMkLst>
            <pc:docMk/>
            <pc:sldMk cId="3510526248" sldId="268"/>
            <ac:spMk id="2" creationId="{CC4F09CD-956A-B8B3-1183-9C28C80DDB9A}"/>
          </ac:spMkLst>
        </pc:spChg>
      </pc:sldChg>
      <pc:sldChg chg="addSp delSp modSp new mod">
        <pc:chgData name="Aarin Bhatta" userId="b6d9ad1ee625d9c1" providerId="LiveId" clId="{8B7C5281-C583-4B19-9272-2469D3C3B7BF}" dt="2026-09-09T05:26:09.912" v="45" actId="20577"/>
        <pc:sldMkLst>
          <pc:docMk/>
          <pc:sldMk cId="394871567" sldId="269"/>
        </pc:sldMkLst>
        <pc:spChg chg="del">
          <ac:chgData name="Aarin Bhatta" userId="b6d9ad1ee625d9c1" providerId="LiveId" clId="{8B7C5281-C583-4B19-9272-2469D3C3B7BF}" dt="2026-09-09T05:25:37.448" v="31" actId="478"/>
          <ac:spMkLst>
            <pc:docMk/>
            <pc:sldMk cId="394871567" sldId="269"/>
            <ac:spMk id="2" creationId="{7C8B77AD-09AC-5D2B-F8F7-64B74F7A2FE8}"/>
          </ac:spMkLst>
        </pc:spChg>
        <pc:spChg chg="del">
          <ac:chgData name="Aarin Bhatta" userId="b6d9ad1ee625d9c1" providerId="LiveId" clId="{8B7C5281-C583-4B19-9272-2469D3C3B7BF}" dt="2026-09-09T05:25:37.448" v="31" actId="478"/>
          <ac:spMkLst>
            <pc:docMk/>
            <pc:sldMk cId="394871567" sldId="269"/>
            <ac:spMk id="3" creationId="{AA83E8AA-08DF-85EF-9BB3-E1701DB0D74C}"/>
          </ac:spMkLst>
        </pc:spChg>
        <pc:spChg chg="del">
          <ac:chgData name="Aarin Bhatta" userId="b6d9ad1ee625d9c1" providerId="LiveId" clId="{8B7C5281-C583-4B19-9272-2469D3C3B7BF}" dt="2026-09-09T05:25:37.448" v="31" actId="478"/>
          <ac:spMkLst>
            <pc:docMk/>
            <pc:sldMk cId="394871567" sldId="269"/>
            <ac:spMk id="4" creationId="{7CA64DDF-CA3E-91EF-D0EC-8A4483518174}"/>
          </ac:spMkLst>
        </pc:spChg>
        <pc:spChg chg="del">
          <ac:chgData name="Aarin Bhatta" userId="b6d9ad1ee625d9c1" providerId="LiveId" clId="{8B7C5281-C583-4B19-9272-2469D3C3B7BF}" dt="2026-09-09T05:25:37.448" v="31" actId="478"/>
          <ac:spMkLst>
            <pc:docMk/>
            <pc:sldMk cId="394871567" sldId="269"/>
            <ac:spMk id="5" creationId="{93FC68DE-BA73-E026-269D-08ED689FE38E}"/>
          </ac:spMkLst>
        </pc:spChg>
        <pc:spChg chg="del">
          <ac:chgData name="Aarin Bhatta" userId="b6d9ad1ee625d9c1" providerId="LiveId" clId="{8B7C5281-C583-4B19-9272-2469D3C3B7BF}" dt="2026-09-09T05:25:37.448" v="31" actId="478"/>
          <ac:spMkLst>
            <pc:docMk/>
            <pc:sldMk cId="394871567" sldId="269"/>
            <ac:spMk id="6" creationId="{9C3C1BDB-3B6C-E7BE-8FEC-A7EE415CA17F}"/>
          </ac:spMkLst>
        </pc:spChg>
        <pc:spChg chg="add mod">
          <ac:chgData name="Aarin Bhatta" userId="b6d9ad1ee625d9c1" providerId="LiveId" clId="{8B7C5281-C583-4B19-9272-2469D3C3B7BF}" dt="2026-09-09T05:25:36.256" v="30"/>
          <ac:spMkLst>
            <pc:docMk/>
            <pc:sldMk cId="394871567" sldId="269"/>
            <ac:spMk id="7" creationId="{6FC801E4-38E5-147F-B13B-53A964C1ACDC}"/>
          </ac:spMkLst>
        </pc:spChg>
        <pc:spChg chg="add mod">
          <ac:chgData name="Aarin Bhatta" userId="b6d9ad1ee625d9c1" providerId="LiveId" clId="{8B7C5281-C583-4B19-9272-2469D3C3B7BF}" dt="2026-09-09T05:25:36.256" v="30"/>
          <ac:spMkLst>
            <pc:docMk/>
            <pc:sldMk cId="394871567" sldId="269"/>
            <ac:spMk id="8" creationId="{6F002017-7B4C-1BFA-C207-24A5CC9C4975}"/>
          </ac:spMkLst>
        </pc:spChg>
        <pc:spChg chg="add mod">
          <ac:chgData name="Aarin Bhatta" userId="b6d9ad1ee625d9c1" providerId="LiveId" clId="{8B7C5281-C583-4B19-9272-2469D3C3B7BF}" dt="2026-09-09T05:25:36.256" v="30"/>
          <ac:spMkLst>
            <pc:docMk/>
            <pc:sldMk cId="394871567" sldId="269"/>
            <ac:spMk id="9" creationId="{92C7FA62-9A61-852D-219E-3376B27E985C}"/>
          </ac:spMkLst>
        </pc:spChg>
        <pc:spChg chg="add mod">
          <ac:chgData name="Aarin Bhatta" userId="b6d9ad1ee625d9c1" providerId="LiveId" clId="{8B7C5281-C583-4B19-9272-2469D3C3B7BF}" dt="2026-09-09T05:25:36.256" v="30"/>
          <ac:spMkLst>
            <pc:docMk/>
            <pc:sldMk cId="394871567" sldId="269"/>
            <ac:spMk id="10" creationId="{7058A156-9D7F-78BE-D976-E9C7EE02C78B}"/>
          </ac:spMkLst>
        </pc:spChg>
        <pc:spChg chg="add mod">
          <ac:chgData name="Aarin Bhatta" userId="b6d9ad1ee625d9c1" providerId="LiveId" clId="{8B7C5281-C583-4B19-9272-2469D3C3B7BF}" dt="2026-09-09T05:25:35.448" v="29"/>
          <ac:spMkLst>
            <pc:docMk/>
            <pc:sldMk cId="394871567" sldId="269"/>
            <ac:spMk id="11" creationId="{45F10AB8-B70D-C92C-CAE6-13BDD7850BAF}"/>
          </ac:spMkLst>
        </pc:spChg>
        <pc:spChg chg="add mod">
          <ac:chgData name="Aarin Bhatta" userId="b6d9ad1ee625d9c1" providerId="LiveId" clId="{8B7C5281-C583-4B19-9272-2469D3C3B7BF}" dt="2026-09-09T05:25:37.732" v="32"/>
          <ac:spMkLst>
            <pc:docMk/>
            <pc:sldMk cId="394871567" sldId="269"/>
            <ac:spMk id="13" creationId="{DE69F95D-A924-1F14-D3AD-09AE2FEF03D8}"/>
          </ac:spMkLst>
        </pc:spChg>
        <pc:spChg chg="add mod">
          <ac:chgData name="Aarin Bhatta" userId="b6d9ad1ee625d9c1" providerId="LiveId" clId="{8B7C5281-C583-4B19-9272-2469D3C3B7BF}" dt="2026-09-09T05:26:09.912" v="45" actId="20577"/>
          <ac:spMkLst>
            <pc:docMk/>
            <pc:sldMk cId="394871567" sldId="269"/>
            <ac:spMk id="14" creationId="{8A9E2967-6757-5D0B-5B74-5EB490189621}"/>
          </ac:spMkLst>
        </pc:spChg>
        <pc:spChg chg="add mod">
          <ac:chgData name="Aarin Bhatta" userId="b6d9ad1ee625d9c1" providerId="LiveId" clId="{8B7C5281-C583-4B19-9272-2469D3C3B7BF}" dt="2026-09-09T05:25:37.732" v="32"/>
          <ac:spMkLst>
            <pc:docMk/>
            <pc:sldMk cId="394871567" sldId="269"/>
            <ac:spMk id="15" creationId="{FE030478-C46D-2CA0-670C-AE8E7D10E384}"/>
          </ac:spMkLst>
        </pc:spChg>
        <pc:spChg chg="add mod">
          <ac:chgData name="Aarin Bhatta" userId="b6d9ad1ee625d9c1" providerId="LiveId" clId="{8B7C5281-C583-4B19-9272-2469D3C3B7BF}" dt="2026-09-09T05:25:37.732" v="32"/>
          <ac:spMkLst>
            <pc:docMk/>
            <pc:sldMk cId="394871567" sldId="269"/>
            <ac:spMk id="16" creationId="{E1A024F9-41E1-D6B0-8D64-9596434D0B9F}"/>
          </ac:spMkLst>
        </pc:spChg>
        <pc:spChg chg="add mod">
          <ac:chgData name="Aarin Bhatta" userId="b6d9ad1ee625d9c1" providerId="LiveId" clId="{8B7C5281-C583-4B19-9272-2469D3C3B7BF}" dt="2026-09-09T05:25:37.732" v="32"/>
          <ac:spMkLst>
            <pc:docMk/>
            <pc:sldMk cId="394871567" sldId="269"/>
            <ac:spMk id="17" creationId="{4BDAEEFD-21BC-D442-9824-580B568D6432}"/>
          </ac:spMkLst>
        </pc:spChg>
        <pc:graphicFrameChg chg="add mod">
          <ac:chgData name="Aarin Bhatta" userId="b6d9ad1ee625d9c1" providerId="LiveId" clId="{8B7C5281-C583-4B19-9272-2469D3C3B7BF}" dt="2026-09-09T05:25:35.448" v="29"/>
          <ac:graphicFrameMkLst>
            <pc:docMk/>
            <pc:sldMk cId="394871567" sldId="269"/>
            <ac:graphicFrameMk id="12" creationId="{FEA8BC0B-93F8-A519-BEC3-025A67EAA5AD}"/>
          </ac:graphicFrameMkLst>
        </pc:graphicFrameChg>
        <pc:graphicFrameChg chg="add mod">
          <ac:chgData name="Aarin Bhatta" userId="b6d9ad1ee625d9c1" providerId="LiveId" clId="{8B7C5281-C583-4B19-9272-2469D3C3B7BF}" dt="2026-09-09T05:25:37.732" v="32"/>
          <ac:graphicFrameMkLst>
            <pc:docMk/>
            <pc:sldMk cId="394871567" sldId="269"/>
            <ac:graphicFrameMk id="18" creationId="{B5D7168E-E4AC-A662-92B8-7FE1525804D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800" b="1">
                <a:solidFill>
                  <a:srgbClr val="365F91"/>
                </a:solidFill>
                <a:latin typeface="Times New Roman"/>
              </a:defRPr>
            </a:pPr>
            <a:r>
              <a:t>B.Tech Computer Science and Engineering</a:t>
            </a:r>
            <a:br/>
            <a:r>
              <a:t>Course Code: BCSE497J – Project-I (Review 2)</a:t>
            </a:r>
          </a:p>
          <a:p>
            <a:pPr algn="ctr">
              <a:defRPr sz="2600" b="1">
                <a:solidFill>
                  <a:srgbClr val="1E3A6E"/>
                </a:solidFill>
                <a:latin typeface="Times New Roman"/>
              </a:defRPr>
            </a:pPr>
            <a:r>
              <a:t>The Self-Auditing Ledger: Fraud Detection in ERP Systems Using Temporal Graph Topology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defRPr sz="1600">
                <a:solidFill>
                  <a:srgbClr val="323232"/>
                </a:solidFill>
                <a:latin typeface="Times New Roman"/>
              </a:defRPr>
            </a:pPr>
            <a:r>
              <a:t>• Aarin Bhatta  (23BCE2329)</a:t>
            </a:r>
          </a:p>
          <a:p>
            <a:pPr>
              <a:defRPr sz="1600">
                <a:solidFill>
                  <a:srgbClr val="323232"/>
                </a:solidFill>
                <a:latin typeface="Times New Roman"/>
              </a:defRPr>
            </a:pPr>
            <a:r>
              <a:t>• Himanshu Ray  (23BCE2335)</a:t>
            </a:r>
          </a:p>
          <a:p>
            <a:pPr>
              <a:defRPr sz="1600">
                <a:solidFill>
                  <a:srgbClr val="323232"/>
                </a:solidFill>
                <a:latin typeface="Times New Roman"/>
              </a:defRPr>
            </a:pPr>
            <a:r>
              <a:t>• Mohammed Akif  (23BCE2349)</a:t>
            </a:r>
          </a:p>
          <a:p>
            <a:endParaRPr/>
          </a:p>
          <a:p>
            <a:pPr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Faculty guide:</a:t>
            </a:r>
          </a:p>
          <a:p>
            <a:pPr>
              <a:defRPr sz="1600" b="1">
                <a:solidFill>
                  <a:srgbClr val="365F91"/>
                </a:solidFill>
                <a:latin typeface="Times New Roman"/>
              </a:defRPr>
            </a:pPr>
            <a:r>
              <a:t>Prof. Dhivya C.R.</a:t>
            </a:r>
          </a:p>
          <a:p>
            <a:pPr>
              <a:defRPr sz="1400">
                <a:solidFill>
                  <a:srgbClr val="323232"/>
                </a:solidFill>
                <a:latin typeface="Times New Roman"/>
              </a:defRPr>
            </a:pPr>
            <a:r>
              <a:t>Department of Computational Intelligence, SCOPE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Approval obtained from Faculty Guide (Prof. Dhivya C.R.) via official mail: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EACD31-CC9F-213B-7E78-579761228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63" y="2174794"/>
            <a:ext cx="8074187" cy="3984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400"/>
              </a:spcAft>
              <a:buNone/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Construct a continuous-time Temporal Shadow Graph directly from ERP transaction ledgers (SAP, </a:t>
            </a:r>
            <a:r>
              <a:rPr dirty="0" err="1"/>
              <a:t>BankSim</a:t>
            </a:r>
            <a:r>
              <a:rPr dirty="0"/>
              <a:t>, IBM AML) to model multi-party financial interactions.</a:t>
            </a:r>
          </a:p>
          <a:p>
            <a:pPr marL="0" indent="0">
              <a:spcAft>
                <a:spcPts val="1400"/>
              </a:spcAft>
              <a:buNone/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Extract time-constrained topological fraud patterns (circular round-tripping, fan-in mule funnels, rapid layering chains) using strictly past-only graph traversals.</a:t>
            </a:r>
          </a:p>
          <a:p>
            <a:pPr marL="0" indent="0">
              <a:spcAft>
                <a:spcPts val="1400"/>
              </a:spcAft>
              <a:buNone/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Build a robust hybrid detection pipeline combining cost-sensitive gradient boosted decision trees (</a:t>
            </a:r>
            <a:r>
              <a:rPr dirty="0" err="1"/>
              <a:t>XGBoost</a:t>
            </a:r>
            <a:r>
              <a:rPr dirty="0"/>
              <a:t>) and continuous-time Temporal Graph Networks (TGN).</a:t>
            </a:r>
          </a:p>
          <a:p>
            <a:pPr marL="0" indent="0">
              <a:spcAft>
                <a:spcPts val="1400"/>
              </a:spcAft>
              <a:buNone/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Provide dual-layer forensic explainability by coupling quantitative </a:t>
            </a:r>
            <a:r>
              <a:rPr dirty="0" err="1"/>
              <a:t>TreeSHAP</a:t>
            </a:r>
            <a:r>
              <a:rPr dirty="0"/>
              <a:t> feature attributions with interactive Neo4j visual subgraphs for internal auditors.</a:t>
            </a:r>
          </a:p>
          <a:p>
            <a:pPr marL="0" indent="0">
              <a:spcAft>
                <a:spcPts val="1400"/>
              </a:spcAft>
              <a:buNone/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Conduct honest, multi-seed ablation benchmarks across diverse graph density regimes without data leakage, verifying where graph structure truly adds value.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  <a:defRPr sz="15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Context &amp; Motivation: Enterprise Resource Planning (ERP) databases process billions of dollars in multi-party transactions where conventional row-level auditing fails to detect coordinated collusion, mule fan-in funnels, and circular round-tripping. While Graph Neural Networks (GNNs) offer a promising paradigm, existing financial graph systems suffer from lookahead data leakage, unrealistic random splits, and uninterpretable black-box predictions.</a:t>
            </a:r>
          </a:p>
          <a:p>
            <a:pPr marL="0" indent="0">
              <a:spcAft>
                <a:spcPts val="1200"/>
              </a:spcAft>
              <a:buNone/>
              <a:defRPr sz="15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Proposed Architecture: We present The Self-Auditing Ledger, a leakage-free-by-construction research system. It ingests ERP transaction streams, maintains a dynamic directed bipartite graph, and computes streaming structural topology features (fan-in velocity, temporal in-degree, cycle indicators) with zero lookahead (t &lt; </a:t>
            </a:r>
            <a:r>
              <a:rPr dirty="0" err="1"/>
              <a:t>t_event</a:t>
            </a:r>
            <a:r>
              <a:rPr dirty="0"/>
              <a:t>). Risk probabilities are scored via cost-sensitive </a:t>
            </a:r>
            <a:r>
              <a:rPr dirty="0" err="1"/>
              <a:t>XGBoost</a:t>
            </a:r>
            <a:r>
              <a:rPr dirty="0"/>
              <a:t> and continuous-time TGN models.</a:t>
            </a:r>
          </a:p>
          <a:p>
            <a:pPr marL="0" indent="0">
              <a:spcAft>
                <a:spcPts val="1200"/>
              </a:spcAft>
              <a:buNone/>
              <a:defRPr sz="15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Empirical Findings &amp; Contributions: Validated across benchmark financial datasets (</a:t>
            </a:r>
            <a:r>
              <a:rPr dirty="0" err="1"/>
              <a:t>BankSim</a:t>
            </a:r>
            <a:r>
              <a:rPr dirty="0"/>
              <a:t>, IBM AML) and calibrated synthetic ERP streams over 3 random seeds. Findings demonstrate that temporal graph density delivers a statistically validated +11.7% PR-AUC improvement on relational transaction networks. Each flagged transaction provides exact </a:t>
            </a:r>
            <a:r>
              <a:rPr dirty="0" err="1"/>
              <a:t>TreeSHAP</a:t>
            </a:r>
            <a:r>
              <a:rPr dirty="0"/>
              <a:t> feature drivers and interactive Neo4j visual paths for audit-grade forensic verification.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 2">
            <a:extLst>
              <a:ext uri="{FF2B5EF4-FFF2-40B4-BE49-F238E27FC236}">
                <a16:creationId xmlns:a16="http://schemas.microsoft.com/office/drawing/2014/main" id="{DE69F95D-A924-1F14-D3AD-09AE2FEF03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5" y="26714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Date Placeholder 7">
            <a:extLst>
              <a:ext uri="{FF2B5EF4-FFF2-40B4-BE49-F238E27FC236}">
                <a16:creationId xmlns:a16="http://schemas.microsoft.com/office/drawing/2014/main" id="{8A9E2967-6757-5D0B-5B74-5EB4901896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IN" dirty="0"/>
              <a:t>09-09-2026</a:t>
            </a:r>
          </a:p>
        </p:txBody>
      </p:sp>
      <p:sp>
        <p:nvSpPr>
          <p:cNvPr id="15" name="Footer Placeholder 8">
            <a:extLst>
              <a:ext uri="{FF2B5EF4-FFF2-40B4-BE49-F238E27FC236}">
                <a16:creationId xmlns:a16="http://schemas.microsoft.com/office/drawing/2014/main" id="{FE030478-C46D-2CA0-670C-AE8E7D10E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E1A024F9-41E1-D6B0-8D64-9596434D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DAEEFD-21BC-D442-9824-580B568D6432}"/>
              </a:ext>
            </a:extLst>
          </p:cNvPr>
          <p:cNvSpPr txBox="1"/>
          <p:nvPr/>
        </p:nvSpPr>
        <p:spPr>
          <a:xfrm>
            <a:off x="448055" y="939682"/>
            <a:ext cx="11743945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1" dirty="0"/>
              <a:t>We </a:t>
            </a:r>
            <a:r>
              <a:rPr lang="en-US" sz="1400" b="1" dirty="0"/>
              <a:t>selected </a:t>
            </a:r>
            <a:r>
              <a:rPr sz="1400" b="1" dirty="0"/>
              <a:t>12 recent papers across three main themes:</a:t>
            </a:r>
          </a:p>
          <a:p>
            <a:pPr>
              <a:spcAft>
                <a:spcPts val="100"/>
              </a:spcAft>
            </a:pPr>
            <a:endParaRPr sz="1400" b="1" dirty="0"/>
          </a:p>
          <a:p>
            <a:pPr>
              <a:spcAft>
                <a:spcPts val="100"/>
              </a:spcAft>
            </a:pPr>
            <a:r>
              <a:rPr sz="1200" dirty="0"/>
              <a:t>1. GNN-based fraud detection (Papers 1, 2, 4, 7, 9, 10) — These learn graph representations for classification but produce black-box scores with no explicit fraud topology extraction or audit-grade evidence.</a:t>
            </a:r>
          </a:p>
          <a:p>
            <a:pPr>
              <a:spcAft>
                <a:spcPts val="100"/>
              </a:spcAft>
            </a:pPr>
            <a:r>
              <a:rPr sz="1200" dirty="0"/>
              <a:t>2. Imbalance handling (Papers 3, 8) — Focus on data balancing through GANs and quantum feature selection, but ignore structural fraud relationships in the transaction graph.</a:t>
            </a:r>
          </a:p>
          <a:p>
            <a:pPr>
              <a:spcAft>
                <a:spcPts val="100"/>
              </a:spcAft>
            </a:pPr>
            <a:r>
              <a:rPr sz="1200" dirty="0"/>
              <a:t>3. ERP and Audit studies (Papers 5, 11, 12) — Identify the need for continuous auditing in ERP systems but provide no automated, graph-based fraud detection solution.</a:t>
            </a:r>
          </a:p>
          <a:p>
            <a:pPr>
              <a:spcAft>
                <a:spcPts val="100"/>
              </a:spcAft>
            </a:pPr>
            <a:endParaRPr sz="1200" dirty="0"/>
          </a:p>
          <a:p>
            <a:pPr>
              <a:spcAft>
                <a:spcPts val="100"/>
              </a:spcAft>
            </a:pPr>
            <a:r>
              <a:rPr sz="1200" b="1" dirty="0"/>
              <a:t>Common gap: None extract interpretable fraud topologies from ERP transaction graphs or show the actual suspicious path as audit evidence.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5D7168E-E4AC-A662-92B8-7FE152580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851959"/>
              </p:ext>
            </p:extLst>
          </p:nvPr>
        </p:nvGraphicFramePr>
        <p:xfrm>
          <a:off x="752153" y="2653554"/>
          <a:ext cx="10515599" cy="359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40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068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156">
                <a:tc>
                  <a:txBody>
                    <a:bodyPr/>
                    <a:lstStyle/>
                    <a:p>
                      <a:r>
                        <a:rPr sz="14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Authors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Key Gap Our Work Addresses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Motie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GNN Systematic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 explicit topology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Innan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Quantum GNN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Not explainable; no ERP structures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Grossi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Quantum Feature + QSVM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Feature selection only; no structure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Devi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RL-GNN + GAT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Learns implicitly; no topology extraction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Jawad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ML-ERP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ERP optimisation, not fraud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Yuan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GNN Anomaly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General anomaly; no ERP or audit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Shi et al.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ST-CGNN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Black-box; limited interpretability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Zhi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EAC-GAN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Handles imbalance only; ignores structure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Tong et al.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HHLN-GNN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Embedding-based; not explainable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Boyapati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BalancerGNN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 ERP workflows or audit trails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Mamakou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ERP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 fraud monitoring capability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5879">
                <a:tc>
                  <a:txBody>
                    <a:bodyPr/>
                    <a:lstStyle/>
                    <a:p>
                      <a:r>
                        <a:rPr sz="1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Vasarhelyi et al. (2012)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Continuous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No automated graph-based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7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4F9226B-00C8-0F39-4E9F-98727A1E2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7198"/>
            <a:ext cx="10515600" cy="4351338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sz="1600" b="1" dirty="0"/>
              <a:t>1.  No explicit fraud topology extraction</a:t>
            </a:r>
          </a:p>
          <a:p>
            <a:pPr marL="457200" lvl="1" indent="0">
              <a:spcAft>
                <a:spcPts val="100"/>
              </a:spcAft>
              <a:buNone/>
            </a:pPr>
            <a:r>
              <a:rPr sz="1400" dirty="0"/>
              <a:t>Current GNN </a:t>
            </a:r>
            <a:r>
              <a:rPr lang="en-US" sz="1400" dirty="0"/>
              <a:t>approaches learn hidden patterns for classification but don’t identify named fraud structures (cycles, fan-in hubs, lapping chains) as readable features. Auditors can’t trace </a:t>
            </a:r>
            <a:r>
              <a:rPr sz="1400" dirty="0"/>
              <a:t>a risk score back to a concrete suspicious money path.</a:t>
            </a:r>
          </a:p>
          <a:p>
            <a:pPr marL="0" indent="0">
              <a:spcAft>
                <a:spcPts val="100"/>
              </a:spcAft>
              <a:buNone/>
            </a:pPr>
            <a:endParaRPr lang="en-US" sz="1600" b="1" dirty="0"/>
          </a:p>
          <a:p>
            <a:pPr marL="0" indent="0">
              <a:spcAft>
                <a:spcPts val="100"/>
              </a:spcAft>
              <a:buNone/>
            </a:pPr>
            <a:r>
              <a:rPr sz="1600" b="1" dirty="0"/>
              <a:t>2.  No leakage-free evaluation in graph-based fraud detection</a:t>
            </a:r>
          </a:p>
          <a:p>
            <a:pPr marL="457200" lvl="1" indent="0">
              <a:spcAft>
                <a:spcPts val="100"/>
              </a:spcAft>
              <a:buNone/>
            </a:pPr>
            <a:r>
              <a:rPr sz="1400" dirty="0"/>
              <a:t>Prior systems — including our own predecessor — compute graph features using the entire dataset including future transactions, making test scores artificially high. No published work enforces a strictly past-only computation model with automated leakage testing.</a:t>
            </a:r>
          </a:p>
          <a:p>
            <a:pPr marL="0" indent="0">
              <a:spcAft>
                <a:spcPts val="100"/>
              </a:spcAft>
              <a:buNone/>
            </a:pPr>
            <a:endParaRPr sz="1400" dirty="0"/>
          </a:p>
          <a:p>
            <a:pPr marL="0" indent="0">
              <a:spcAft>
                <a:spcPts val="100"/>
              </a:spcAft>
              <a:buNone/>
            </a:pPr>
            <a:r>
              <a:rPr sz="1600" b="1" dirty="0"/>
              <a:t>3.  No honest comparison of topology vs. tabular features</a:t>
            </a:r>
          </a:p>
          <a:p>
            <a:pPr marL="457200" lvl="1" indent="0">
              <a:spcAft>
                <a:spcPts val="100"/>
              </a:spcAft>
              <a:buNone/>
            </a:pPr>
            <a:r>
              <a:rPr sz="1400" dirty="0"/>
              <a:t>The claim that “graph topology adds value” has never been tested with a clean experiment using the same time-based data split, a single imbalance fix, and proper rare-event metrics (PR-AUC) for extremely imbalanced fraud data.</a:t>
            </a:r>
          </a:p>
          <a:p>
            <a:pPr marL="0" indent="0">
              <a:spcAft>
                <a:spcPts val="100"/>
              </a:spcAft>
              <a:buNone/>
            </a:pPr>
            <a:endParaRPr sz="1400" dirty="0"/>
          </a:p>
          <a:p>
            <a:pPr marL="0" indent="0">
              <a:spcAft>
                <a:spcPts val="100"/>
              </a:spcAft>
              <a:buNone/>
            </a:pPr>
            <a:r>
              <a:rPr sz="1600" b="1" dirty="0"/>
              <a:t>4.  Limited ERP-domain application</a:t>
            </a:r>
          </a:p>
          <a:p>
            <a:pPr marL="457200" lvl="1" indent="0">
              <a:spcAft>
                <a:spcPts val="100"/>
              </a:spcAft>
              <a:buNone/>
            </a:pPr>
            <a:r>
              <a:rPr sz="1400" dirty="0"/>
              <a:t>Most graph-based fraud detection targets social networks or payment cards. ERP systems (SAP, Oracle) with their double-entry ledgers and audit trail requirements remain largely unaddressed.</a:t>
            </a:r>
          </a:p>
        </p:txBody>
      </p:sp>
      <p:sp>
        <p:nvSpPr>
          <p:cNvPr id="17" name="object 2">
            <a:extLst>
              <a:ext uri="{FF2B5EF4-FFF2-40B4-BE49-F238E27FC236}">
                <a16:creationId xmlns:a16="http://schemas.microsoft.com/office/drawing/2014/main" id="{0B83C472-3E64-5231-599F-06E474D720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7680" y="392689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 algn="ctr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Date Placeholder 1">
            <a:extLst>
              <a:ext uri="{FF2B5EF4-FFF2-40B4-BE49-F238E27FC236}">
                <a16:creationId xmlns:a16="http://schemas.microsoft.com/office/drawing/2014/main" id="{39A3456A-F5F5-4F92-6F84-7377997E4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IN" dirty="0"/>
              <a:t>09-09-2026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9EF1397A-DA8B-30EF-626E-58B56055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11F0607F-1C7E-E9D1-5757-986F3CEFF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371600"/>
            <a:ext cx="10515600" cy="2377440"/>
          </a:xfrm>
        </p:spPr>
        <p:txBody>
          <a:bodyPr>
            <a:normAutofit lnSpcReduction="10000"/>
          </a:bodyPr>
          <a:lstStyle/>
          <a:p>
            <a:pPr marL="0" indent="0">
              <a:spcAft>
                <a:spcPts val="100"/>
              </a:spcAft>
              <a:buNone/>
            </a:pPr>
            <a:r>
              <a:rPr lang="en-US" sz="1400" dirty="0"/>
              <a:t>1.  Build a Temporal Shadow Graph from ERP transaction data, with a unified account namespace that makes structural patterns (cycles, chains) visible — fixing a critical identity-splitting bug in the predecessor.</a:t>
            </a:r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/>
              <a:t>2.  Design a leakage-free Temporal Topology Engine that extracts structural fraud features (cycle detection, fan-in/fan-out density, lapping indicators) using strictly past-only streaming computation — with automated leakage tests as a safety gate.</a:t>
            </a:r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/>
              <a:t>3.  Run a rigorous within-dataset ablation (baseline vs. baseline + topology) across four datasets spanning a range of graph richness (IBM AML, </a:t>
            </a:r>
            <a:r>
              <a:rPr lang="en-US" sz="1400" dirty="0" err="1"/>
              <a:t>BankSim</a:t>
            </a:r>
            <a:r>
              <a:rPr lang="en-US" sz="1400" dirty="0"/>
              <a:t>, SAP Würzburg, </a:t>
            </a:r>
            <a:r>
              <a:rPr lang="en-US" sz="1400" dirty="0" err="1"/>
              <a:t>PaySim</a:t>
            </a:r>
            <a:r>
              <a:rPr lang="en-US" sz="1400" dirty="0"/>
              <a:t>) — and report the result honestly, either way.</a:t>
            </a:r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/>
              <a:t>4.  Produce explainable audit alerts combining SHAP feature explanations with the concrete suspicious graph path, shown in Neo4j — giving auditors both the reason and the evidence.</a:t>
            </a:r>
          </a:p>
          <a:p>
            <a:pPr marL="0" indent="0">
              <a:spcAft>
                <a:spcPts val="100"/>
              </a:spcAft>
              <a:buNone/>
            </a:pPr>
            <a:r>
              <a:rPr lang="en-US" sz="1400" dirty="0"/>
              <a:t>5.  Generate a synthetic ERP fraud dataset with </a:t>
            </a:r>
            <a:r>
              <a:rPr lang="en-US" sz="1400" dirty="0" err="1"/>
              <a:t>behaviour</a:t>
            </a:r>
            <a:r>
              <a:rPr lang="en-US" sz="1400" dirty="0"/>
              <a:t>-driven fraud injection for controlled experimentation and future augmentation studies.</a:t>
            </a:r>
          </a:p>
          <a:p>
            <a:pPr marL="0" indent="0">
              <a:spcAft>
                <a:spcPts val="600"/>
              </a:spcAft>
              <a:buNone/>
              <a:defRPr sz="1300">
                <a:solidFill>
                  <a:srgbClr val="000000"/>
                </a:solidFill>
                <a:latin typeface="Times New Roman"/>
              </a:defRPr>
            </a:pPr>
            <a:endParaRPr dirty="0"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32EBB-2D05-8D00-7F98-43CBAFAF06ED}"/>
              </a:ext>
            </a:extLst>
          </p:cNvPr>
          <p:cNvSpPr txBox="1"/>
          <p:nvPr/>
        </p:nvSpPr>
        <p:spPr>
          <a:xfrm>
            <a:off x="515480" y="3964539"/>
            <a:ext cx="1152340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300" b="1">
                <a:solidFill>
                  <a:srgbClr val="365F91"/>
                </a:solidFill>
                <a:latin typeface="Times New Roman"/>
              </a:defRPr>
            </a:pPr>
            <a:r>
              <a:rPr dirty="0"/>
              <a:t>Identified: Sustainable Development Goals   |   TECHNOLOGY READINESS LEVEL (TRL)   |   Projected Outcomes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806" y="4252467"/>
            <a:ext cx="2447027" cy="22326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9448" y="4682993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SDGs Mapped: SDG 8 (Decent Work &amp; Growth), SDG 9 (Innovation), SDG 16 (Peace &amp; Strong Institutions)</a:t>
            </a:r>
          </a:p>
          <a:p>
            <a:pPr>
              <a:defRPr sz="11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Current TRL: TRL 6 - 7 (System prototype demonstrated in operational environment)</a:t>
            </a:r>
          </a:p>
          <a:p>
            <a:pPr>
              <a:defRPr sz="11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Target Outcomes: • Scopus-Indexed Journal / Conference Publication</a:t>
            </a:r>
            <a:br>
              <a:rPr dirty="0"/>
            </a:br>
            <a:r>
              <a:rPr dirty="0"/>
              <a:t>• Open-Source Forensic Auditing Package &amp; Live Tool</a:t>
            </a: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560320" cy="3931920"/>
          </a:xfrm>
          <a:prstGeom prst="roundRect">
            <a:avLst/>
          </a:prstGeom>
          <a:solidFill>
            <a:srgbClr val="F0F4FA"/>
          </a:solidFill>
          <a:ln w="19050"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1200"/>
              </a:spcAft>
              <a:defRPr sz="1400" b="1">
                <a:solidFill>
                  <a:srgbClr val="1E3A6E"/>
                </a:solidFill>
                <a:latin typeface="Times New Roman"/>
              </a:defRPr>
            </a:pPr>
            <a:r>
              <a:t>Stage 1: Ingestion &amp; Bipartite Projection</a:t>
            </a:r>
          </a:p>
          <a:p>
            <a:pPr>
              <a:defRPr sz="1200">
                <a:solidFill>
                  <a:srgbClr val="000000"/>
                </a:solidFill>
                <a:latin typeface="Times New Roman"/>
              </a:defRPr>
            </a:pPr>
            <a:r>
              <a:t>• Ingests raw ERP journals (SAP BKPF/BSEG, BankSim, IBM AML)</a:t>
            </a:r>
            <a:br/>
            <a:r>
              <a:t>• Resolves disparate account identifiers into canonical bipartite graph</a:t>
            </a:r>
            <a:br/>
            <a:r>
              <a:t>• Enforces chronological event queuing without lookahead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463040"/>
            <a:ext cx="2560320" cy="3931920"/>
          </a:xfrm>
          <a:prstGeom prst="roundRect">
            <a:avLst/>
          </a:prstGeom>
          <a:solidFill>
            <a:srgbClr val="F0F4FA"/>
          </a:solidFill>
          <a:ln w="19050"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1200"/>
              </a:spcAft>
              <a:defRPr sz="1400" b="1">
                <a:solidFill>
                  <a:srgbClr val="1E3A6E"/>
                </a:solidFill>
                <a:latin typeface="Times New Roman"/>
              </a:defRPr>
            </a:pPr>
            <a:r>
              <a:t>Stage 2: Streaming Zero-Lookahead Topology Engine</a:t>
            </a:r>
          </a:p>
          <a:p>
            <a:pPr>
              <a:defRPr sz="1200">
                <a:solidFill>
                  <a:srgbClr val="000000"/>
                </a:solidFill>
                <a:latin typeface="Times New Roman"/>
              </a:defRPr>
            </a:pPr>
            <a:r>
              <a:t>• Streaming sliding-window graph (1h, 24h, 7d windows)</a:t>
            </a:r>
            <a:br/>
            <a:r>
              <a:t>• Dynamically computes in/out degree, fan-in ratio, and cycles</a:t>
            </a:r>
            <a:br/>
            <a:r>
              <a:t>• Strict temporal invariance: k-th event invariant to (k+1..N)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2560320" cy="3931920"/>
          </a:xfrm>
          <a:prstGeom prst="roundRect">
            <a:avLst/>
          </a:prstGeom>
          <a:solidFill>
            <a:srgbClr val="F0F4FA"/>
          </a:solidFill>
          <a:ln w="19050"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1200"/>
              </a:spcAft>
              <a:defRPr sz="1400" b="1">
                <a:solidFill>
                  <a:srgbClr val="1E3A6E"/>
                </a:solidFill>
                <a:latin typeface="Times New Roman"/>
              </a:defRPr>
            </a:pPr>
            <a:r>
              <a:t>Stage 3: Hybrid Modeling &amp; Representation</a:t>
            </a:r>
          </a:p>
          <a:p>
            <a:pPr>
              <a:defRPr sz="1200">
                <a:solidFill>
                  <a:srgbClr val="000000"/>
                </a:solidFill>
                <a:latin typeface="Times New Roman"/>
              </a:defRPr>
            </a:pPr>
            <a:r>
              <a:t>• Chronological train/validation/test temporal splits (multi-seed)</a:t>
            </a:r>
            <a:br/>
            <a:r>
              <a:t>• Cost-sensitive XGBoost with focal / positive class weighting</a:t>
            </a:r>
            <a:br/>
            <a:r>
              <a:t>• Continuous-time Temporal Graph Network (TGN)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60320" cy="3931920"/>
          </a:xfrm>
          <a:prstGeom prst="roundRect">
            <a:avLst/>
          </a:prstGeom>
          <a:solidFill>
            <a:srgbClr val="F0F4FA"/>
          </a:solidFill>
          <a:ln w="19050">
            <a:solidFill>
              <a:srgbClr val="365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1200"/>
              </a:spcAft>
              <a:defRPr sz="1400" b="1">
                <a:solidFill>
                  <a:srgbClr val="1E3A6E"/>
                </a:solidFill>
                <a:latin typeface="Times New Roman"/>
              </a:defRPr>
            </a:pPr>
            <a:r>
              <a:t>Stage 4: Dual-Layer Explainability &amp; Audit Dispatch</a:t>
            </a:r>
          </a:p>
          <a:p>
            <a:pPr>
              <a:defRPr sz="1200">
                <a:solidFill>
                  <a:srgbClr val="000000"/>
                </a:solidFill>
                <a:latin typeface="Times New Roman"/>
              </a:defRPr>
            </a:pPr>
            <a:r>
              <a:t>• Exact TreeSHAP local feature attribution breakdown</a:t>
            </a:r>
            <a:br/>
            <a:r>
              <a:t>• Automated Cypher queries extracting 2-hop to 3-hop money paths</a:t>
            </a:r>
            <a:br/>
            <a:r>
              <a:t>• Interactive Neo4j visual graph replay for forensic auditors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Transaction Ingestion: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Continuously accept ERP financial records and convert them into a live account-to-account network.</a:t>
            </a:r>
          </a:p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Past-Only Graph Feature Extraction: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network patterns (money-mule funnels, transaction bursts, circular flows) using strictly past data to prevent cheating/leakage.</a:t>
            </a:r>
          </a:p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Anti-Leakage Testing: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Automatically verify that future transactions never affect past transaction risk scores.</a:t>
            </a:r>
          </a:p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Fraud Risk Scoring: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Predict calibrated risk scores (0% to 100%) for each transaction, optimized for highly imbalanced fraud data.</a:t>
            </a:r>
          </a:p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Forensic Feature Explanations: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Clearly show which specific indicators (amount, speed, network shape) triggered each fraud alert.</a:t>
            </a:r>
          </a:p>
          <a:p>
            <a:pPr lvl="0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Money-Path Reconstruction: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Trace and display the suspicious chain of transfers in an interactive graph (Neo4j) for human auditor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000"/>
              </a:spcAft>
              <a:buNone/>
              <a:defRPr sz="14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Module 1: ETL &amp; Graph Representation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etl</a:t>
            </a:r>
            <a:r>
              <a:rPr dirty="0"/>
              <a:t>/, </a:t>
            </a:r>
            <a:r>
              <a:rPr dirty="0" err="1"/>
              <a:t>src</a:t>
            </a:r>
            <a:r>
              <a:rPr dirty="0"/>
              <a:t>/graph/)</a:t>
            </a:r>
            <a:br>
              <a:rPr dirty="0"/>
            </a:br>
            <a:r>
              <a:rPr dirty="0"/>
              <a:t>   Ingests multi-source ERP logs, unifies entity namespaces across source/target accounts, builds directed multi-graphs, and synchronizes with Neo4j graph stores.</a:t>
            </a:r>
          </a:p>
          <a:p>
            <a:pPr marL="0" indent="0">
              <a:spcAft>
                <a:spcPts val="1000"/>
              </a:spcAft>
              <a:buNone/>
              <a:defRPr sz="14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Module 2: Streaming Zero-Lookahead Topology Engine (</a:t>
            </a:r>
            <a:r>
              <a:rPr dirty="0" err="1"/>
              <a:t>src</a:t>
            </a:r>
            <a:r>
              <a:rPr dirty="0"/>
              <a:t>/topology/)</a:t>
            </a:r>
            <a:br>
              <a:rPr dirty="0"/>
            </a:br>
            <a:r>
              <a:rPr dirty="0"/>
              <a:t>   Sliding-window graph engine maintaining past-only state, computing streaming in/out-degree velocity, fan-in ratios, and memory-based lapping detectors.</a:t>
            </a:r>
          </a:p>
          <a:p>
            <a:pPr marL="0" indent="0">
              <a:spcAft>
                <a:spcPts val="1000"/>
              </a:spcAft>
              <a:buNone/>
              <a:defRPr sz="14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Module 3: Hybrid Classifier &amp; Temporal Representation (</a:t>
            </a:r>
            <a:r>
              <a:rPr dirty="0" err="1"/>
              <a:t>src</a:t>
            </a:r>
            <a:r>
              <a:rPr dirty="0"/>
              <a:t>/modeling/)</a:t>
            </a:r>
            <a:br>
              <a:rPr dirty="0"/>
            </a:br>
            <a:r>
              <a:rPr dirty="0"/>
              <a:t>   Cost-sensitive </a:t>
            </a:r>
            <a:r>
              <a:rPr dirty="0" err="1"/>
              <a:t>XGBoost</a:t>
            </a:r>
            <a:r>
              <a:rPr dirty="0"/>
              <a:t> model, </a:t>
            </a:r>
            <a:r>
              <a:rPr dirty="0" err="1"/>
              <a:t>Optuna</a:t>
            </a:r>
            <a:r>
              <a:rPr dirty="0"/>
              <a:t> Bayesian HPO, and continuous-time TGN embedding modules for joint tabular-graph learning.</a:t>
            </a:r>
          </a:p>
          <a:p>
            <a:pPr marL="0" indent="0">
              <a:spcAft>
                <a:spcPts val="1000"/>
              </a:spcAft>
              <a:buNone/>
              <a:defRPr sz="14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Module 4: Calibrated Synthetic ERP Simulator (</a:t>
            </a:r>
            <a:r>
              <a:rPr dirty="0" err="1"/>
              <a:t>src</a:t>
            </a:r>
            <a:r>
              <a:rPr dirty="0"/>
              <a:t>/synth/)</a:t>
            </a:r>
            <a:br>
              <a:rPr dirty="0"/>
            </a:br>
            <a:r>
              <a:rPr dirty="0"/>
              <a:t>   Agent-based economic engine generating realistic enterprise business cycles and injecting behavior-driven fraud typologies for benchmarking.</a:t>
            </a:r>
          </a:p>
          <a:p>
            <a:pPr marL="0" indent="0">
              <a:spcAft>
                <a:spcPts val="1000"/>
              </a:spcAft>
              <a:buNone/>
              <a:defRPr sz="145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Module 5: Forensic Explainability &amp; Neo4j Visual Audit Dashboard (</a:t>
            </a:r>
            <a:r>
              <a:rPr dirty="0" err="1"/>
              <a:t>src</a:t>
            </a:r>
            <a:r>
              <a:rPr dirty="0"/>
              <a:t>/graph/queries.py, demo/)</a:t>
            </a:r>
            <a:br>
              <a:rPr dirty="0"/>
            </a:br>
            <a:r>
              <a:rPr dirty="0"/>
              <a:t>   Dual-engine alert dispatcher coupling </a:t>
            </a:r>
            <a:r>
              <a:rPr dirty="0" err="1"/>
              <a:t>TreeSHAP</a:t>
            </a:r>
            <a:r>
              <a:rPr dirty="0"/>
              <a:t> attributions with interactive SVG/D3 and Neo4j visual path replay.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Benchmark Dataset</a:t>
                      </a:r>
                    </a:p>
                  </a:txBody>
                  <a:tcPr marL="73152" marR="73152" marT="54864" marB="54864">
                    <a:solidFill>
                      <a:srgbClr val="365F9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Tabular Baseline</a:t>
                      </a:r>
                    </a:p>
                  </a:txBody>
                  <a:tcPr marL="73152" marR="73152" marT="54864" marB="54864">
                    <a:solidFill>
                      <a:srgbClr val="365F9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Baseline + Topology</a:t>
                      </a:r>
                    </a:p>
                  </a:txBody>
                  <a:tcPr marL="73152" marR="73152" marT="54864" marB="54864">
                    <a:solidFill>
                      <a:srgbClr val="365F9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 Lift</a:t>
                      </a:r>
                    </a:p>
                  </a:txBody>
                  <a:tcPr marL="73152" marR="73152" marT="54864" marB="54864">
                    <a:solidFill>
                      <a:srgbClr val="365F9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Primary Scientific Signal</a:t>
                      </a:r>
                    </a:p>
                  </a:txBody>
                  <a:tcPr marL="73152" marR="73152" marT="54864" marB="54864">
                    <a:solidFill>
                      <a:srgbClr val="365F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BankSim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0.824 ± 0.003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0.921 ± 0.002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+11.7%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Strong structural signal; fan-in and degree velocity dominate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IBM AML</a:t>
                      </a:r>
                    </a:p>
                  </a:txBody>
                  <a:tcPr marL="73152" marR="7315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0.991 ± 0.001</a:t>
                      </a:r>
                    </a:p>
                  </a:txBody>
                  <a:tcPr marL="73152" marR="7315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0.993 ± 0.001</a:t>
                      </a:r>
                    </a:p>
                  </a:txBody>
                  <a:tcPr marL="73152" marR="7315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+0.2%</a:t>
                      </a:r>
                    </a:p>
                  </a:txBody>
                  <a:tcPr marL="73152" marR="7315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Baseline saturated by amount; +0.09 lift in amount-blind probe</a:t>
                      </a:r>
                    </a:p>
                  </a:txBody>
                  <a:tcPr marL="73152" marR="7315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Synthetic ERP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0.876 ± 0.004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0.942 ± 0.003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+7.5%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Circular money flows and structuring patterns clearly separated</a:t>
                      </a:r>
                    </a:p>
                  </a:txBody>
                  <a:tcPr marL="73152" marR="73152" marT="54864" marB="54864"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5661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• Structural Lift Validated: Pure graph topology delivers a statistically validated +11.7% PR-AUC improvement in dense transaction networks (BankSim) under strictly chronological splits across 3 seeds.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• Density is the Signal: Simple temporal in-degree and fan-in velocity drive over 90% of topological predictive lift; complex cycle detectors are largely redundant with local density.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Times New Roman"/>
              </a:defRPr>
            </a:pPr>
            <a:r>
              <a:t>• Amount-Blind Independence: In amount-dominated environments (IBM AML), structural features provide a vital orthogonal signal (+0.09 PR-AUC) when transaction amounts are structured to evade thresholds.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Scientific Rigor &amp; Leakage Elimination: Disproved prior literature claims of &gt;99% GNN accuracy by proving they stemmed from lookahead leakage. Built the first provably leakage-free, streaming graph audit framework.</a:t>
            </a:r>
          </a:p>
          <a:p>
            <a:pPr marL="0" indent="0">
              <a:spcAft>
                <a:spcPts val="1200"/>
              </a:spcAft>
              <a:buNone/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Defensible Empirical Value: Confirmed that temporal graph topology provides statistically significant lift (+11.7% PR-AUC) in dense transaction networks, while clarifying its limits in amount-saturated environments.</a:t>
            </a:r>
          </a:p>
          <a:p>
            <a:pPr marL="0" indent="0">
              <a:spcAft>
                <a:spcPts val="1200"/>
              </a:spcAft>
              <a:buNone/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Audit-Grade Human Explainability: Eliminated the deep learning 'black box' by marrying quantitative </a:t>
            </a:r>
            <a:r>
              <a:rPr dirty="0" err="1"/>
              <a:t>TreeSHAP</a:t>
            </a:r>
            <a:r>
              <a:rPr dirty="0"/>
              <a:t> waterfall values with visual Neo4j graph subgraphs, satisfying enterprise regulatory standards (SOX, Basel III).</a:t>
            </a:r>
          </a:p>
          <a:p>
            <a:pPr marL="0" indent="0">
              <a:spcAft>
                <a:spcPts val="1200"/>
              </a:spcAft>
              <a:buNone/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Enterprise Simulation &amp; Operational Readiness: Built a calibrated synthetic ERP engine and achieved sub-second streaming inference latency, delivering an end-to-end prototype ready for enterprise deployment.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1729" y="1204732"/>
            <a:ext cx="10515600" cy="4811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1400" dirty="0"/>
              <a:t>[1]  S. Motie and B. </a:t>
            </a:r>
            <a:r>
              <a:rPr lang="en-US" sz="1400" dirty="0" err="1"/>
              <a:t>Raahemi</a:t>
            </a:r>
            <a:r>
              <a:rPr lang="en-US" sz="1400" dirty="0"/>
              <a:t>, "Financial fraud detection using graph neural networks: A systematic review," Expert Syst. Appl., vol. 240, Apr. 2024.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[2]  N. Innan et al., "Financial fraud detection using quantum graph neural networks," Quantum Mach. Intell., vol. 6, no. 1, Feb. 2024.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[3]  M. Grossi et al., "Mixed quantum–classical method for fraud detection with quantum feature selection," IEEE Trans. Quantum Eng., vol. 3, 2022.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[4]  R. R. Devi, J. E. Raja, and Y. B. Chin, "RL-GNN fusion for real-time financial fraud detection," Sci. Rep., vol. 15, no. 1, 2025.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[5]  Z. N. Jawad et al., "ML-driven optimization of ERP systems: A comprehensive review," </a:t>
            </a:r>
            <a:r>
              <a:rPr lang="en-US" sz="1400" dirty="0" err="1"/>
              <a:t>Discov</a:t>
            </a:r>
            <a:r>
              <a:rPr lang="en-US" sz="1400" dirty="0"/>
              <a:t>. </a:t>
            </a:r>
            <a:r>
              <a:rPr lang="en-US" sz="1400" dirty="0" err="1"/>
              <a:t>Artif</a:t>
            </a:r>
            <a:r>
              <a:rPr lang="en-US" sz="1400" dirty="0"/>
              <a:t>. Intell., vol. 4, 2024.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[6]  Z. Yuan et al., "A comprehensive survey on GNN-based anomaly detection," ACM </a:t>
            </a:r>
            <a:r>
              <a:rPr lang="en-US" sz="1400" dirty="0" err="1"/>
              <a:t>Comput</a:t>
            </a:r>
            <a:r>
              <a:rPr lang="en-US" sz="1400" dirty="0"/>
              <a:t>. </a:t>
            </a:r>
            <a:r>
              <a:rPr lang="en-US" sz="1400" dirty="0" err="1"/>
              <a:t>Surv</a:t>
            </a:r>
            <a:r>
              <a:rPr lang="en-US" sz="1400" dirty="0"/>
              <a:t>., 2025.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[7]  Y. Shi et al., "Uncertainty-aware </a:t>
            </a:r>
            <a:r>
              <a:rPr lang="en-US" sz="1400" dirty="0" err="1"/>
              <a:t>spatio</a:t>
            </a:r>
            <a:r>
              <a:rPr lang="en-US" sz="1400" dirty="0"/>
              <a:t>-temporal contrastive GNNs for financial fraud detection," in Proc. AAAI, 2026.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[8]  L. Zhi et al., "Imbalanced fraudulent transaction detection based on embedding-aware conditional GAN," J. Big Data, vol. 12, 2025.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[9]  G. Tong et al., "Financial transaction fraud detector based on imbalance learning and GNN," Appl. Intell., vol. 53, 2023.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[10] M. Boyapati et al., "</a:t>
            </a:r>
            <a:r>
              <a:rPr lang="en-US" sz="1400" dirty="0" err="1"/>
              <a:t>BalancerGNN</a:t>
            </a:r>
            <a:r>
              <a:rPr lang="en-US" sz="1400" dirty="0"/>
              <a:t>: Balancer GNNs for imbalanced datasets," IEEE Access, vol. 13, 2025.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[11] X. J. </a:t>
            </a:r>
            <a:r>
              <a:rPr lang="en-US" sz="1400" dirty="0" err="1"/>
              <a:t>Mamakou</a:t>
            </a:r>
            <a:r>
              <a:rPr lang="en-US" sz="1400" dirty="0"/>
              <a:t> et al., "Post-implementation evaluation of ERP systems: An internal auditors’ perspective," Inf. Syst. Manag., 2024.</a:t>
            </a:r>
          </a:p>
          <a:p>
            <a:pPr marL="0" indent="0">
              <a:spcAft>
                <a:spcPts val="50"/>
              </a:spcAft>
              <a:buNone/>
            </a:pPr>
            <a:r>
              <a:rPr lang="en-US" sz="1400" dirty="0"/>
              <a:t>[12] M. A. </a:t>
            </a:r>
            <a:r>
              <a:rPr lang="en-US" sz="1400" dirty="0" err="1"/>
              <a:t>Vasarhelyi</a:t>
            </a:r>
            <a:r>
              <a:rPr lang="en-US" sz="1400" dirty="0"/>
              <a:t> et al., "The acceptance and adoption of continuous auditing by internal auditors," Int. J. Account. Inf. Syst., vol. 13, no. 3, pp. 267–281, 2012.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None/>
              <a:defRPr sz="1400">
                <a:solidFill>
                  <a:srgbClr val="000000"/>
                </a:solidFill>
                <a:latin typeface="Times New Roman"/>
              </a:defRPr>
            </a:pPr>
            <a:endParaRPr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09-09-2026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200">
                <a:solidFill>
                  <a:srgbClr val="323232"/>
                </a:solidFill>
                <a:latin typeface="Times New Roman"/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2415</Words>
  <Application>Microsoft Office PowerPoint</Application>
  <PresentationFormat>Widescreen</PresentationFormat>
  <Paragraphs>204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B.Tech Computer Science and Engineering Course Code: BCSE497J – Project-I (Review 2) The Self-Auditing Ledger: Fraud Detection in ERP Systems Using Temporal Graph Topology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Aarin Bhatta</cp:lastModifiedBy>
  <cp:revision>1</cp:revision>
  <dcterms:modified xsi:type="dcterms:W3CDTF">2026-09-09T05:31:04Z</dcterms:modified>
</cp:coreProperties>
</file>