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4" r:id="rId9"/>
    <p:sldId id="265" r:id="rId10"/>
    <p:sldId id="266" r:id="rId11"/>
    <p:sldId id="267" r:id="rId12"/>
    <p:sldId id="268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5" d="100"/>
          <a:sy n="45" d="100"/>
        </p:scale>
        <p:origin x="1025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8E2E1-8886-43B2-B986-F2B06DAA2FAC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9FDF3-42B5-4A41-B75E-186C38908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85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92BF-19BE-9BF0-E2FC-07A36D054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3AB4F9-CBB3-B18D-E917-C3B064186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F18A0-E201-1900-A139-E830DD3E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8AE-7F97-4550-9DD8-BF69171FDC30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906B9-B1F6-B52E-2EE0-7595B1EB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13AE1-F96E-D540-8DE1-8D903DB3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19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2F7EA-3EC9-99AF-13A9-22A3F8B2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1419B-73DB-15DA-D2EE-0FC01B43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80259-8D20-E29B-4DC5-312C3DB0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1830E-3502-194A-88FA-DC3E0F1B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6703C-229C-43C6-0484-38EC263A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9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CE344-6494-09A6-A5E4-811EEE0C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1A0E2-2B9B-B96E-A3FD-0B26BDDB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7CE67-8E8A-4D0D-42DF-DDC842B1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2BD8-A2C4-424B-809A-C64DDCC305D9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78C3E-C139-1FD1-979B-D7167995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2F297-889B-B694-6DD5-92F8A6AA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14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2C89C-FEA2-11F6-7988-ADD14A7B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5DE7B-A406-1142-36EA-1C1498740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355A2B-361E-86CB-ABBE-C510D2B22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A5E84-A1E0-A1C4-F7E6-DA9E7B12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F4BC-B3A4-46AF-9AEC-8478EF1369D5}" type="datetime1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DA460-54C8-F2AC-C053-53FF3FAF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F132A-BD40-58D2-CEEC-A1BA2B9E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22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823BE-2514-8722-ED45-41E13E46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BFEE3B-6ABA-1D24-97FE-717EBBC99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53C42-4C6D-988F-42A0-8639A508A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B662B4-F942-A78F-394F-74F603717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445FBE-A81E-92E1-36E3-99D1586F8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D20C02-77C2-CB2A-62F8-60B8C626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993-B405-4F4D-B968-A01C27211659}" type="datetime1">
              <a:rPr lang="en-IN" smtClean="0"/>
              <a:t>22-08-2026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033241-EB08-777E-F678-5D641F64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D711ED-181F-C690-A3B3-1D82670F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27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68B4-E355-69B3-7598-80ADF2F9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1AB3B-AFC6-3627-62E6-22313061F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8C8C-5FBB-4DD7-A06D-BE263480794B}" type="datetime1">
              <a:rPr lang="en-IN" smtClean="0"/>
              <a:t>22-08-2026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2C6591-48E4-480E-7965-DE9F8301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C9D68-A16A-B2D3-C8A6-B5221AF7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06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3F289A-3AD7-C11D-1594-90A35E59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2985-06EC-459B-80C8-F6F4362A1C03}" type="datetime1">
              <a:rPr lang="en-IN" smtClean="0"/>
              <a:t>22-08-2026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252269-BBE3-199F-299B-38D4E9CC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07FDC-B2A9-1304-047F-5808A0B6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26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A4847-FC20-D9BF-0BDE-26EC7EF7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9C584-AC19-D7B4-9DFE-7C1BC2E1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A3262-CE8D-2419-DCCC-C536E9FDA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758D6-7AF2-29C5-E0EE-3B7BE155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E9DA-13C6-48A4-9305-B592482DE8CE}" type="datetime1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AC7E7-68C4-7616-2DE1-0333E2C44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EF51B-1685-66FF-0783-23584C25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38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39D0E-3A71-7252-C837-B8281F0D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E3D557-6893-299F-57A8-A7B173F10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C8BA2-BB08-F4E3-5660-C7370BA56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57E1CE-C7CA-966D-8661-1E99A7DA2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E7C4B-C575-4DCF-9B63-045662930500}" type="datetime1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55516-3E64-07E5-10C5-DE056657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A5AD5-9867-E76D-C035-2856CCFB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1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1D7EC-16EA-5009-5D33-ABFC55F2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9EC6D-8ED5-29E9-9444-CC2D6A1CB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ADFC6-7CEA-ABEE-94C2-870B1E65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6931C-EA1A-43DD-B3B3-66F5BA587712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FA3A5-596E-6C2A-F853-30C5DC6F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CE6B1-CE87-B68F-9494-FA6D109F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80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0FF105-FC99-2BCB-131F-2B902F8BA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54FD6-064F-6E12-E8DE-81EC913CD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D2109-32D1-4A0F-F903-5142A204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B0E1-7C95-4C20-B9C6-BA51F388E878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5353D-EEF9-CF3C-A97F-F0F0EBFA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2F1DC-3958-BCDE-9A16-88E928E7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3540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454249-E28B-CF91-F4A6-9762E4F3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3D641-7C66-CA7D-30A7-7F95AC27E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1D408-B228-838E-3E43-4304680A5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27C3E-786B-4150-9177-1C28966A2ADC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C7A69-1922-F157-900C-FF9566831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80E76-E345-1553-9664-0BCF569B5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4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9E27CD-EF84-CB3A-3D07-A31523568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236" y="-11493"/>
            <a:ext cx="4517528" cy="187163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BAD67C4-20B4-E1F6-A7E7-C8C33181D0C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907459" y="1934141"/>
            <a:ext cx="8924544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>
                <a:solidFill>
                  <a:srgbClr val="505050"/>
                </a:solidFill>
                <a:latin typeface="Times New Roman"/>
              </a:rPr>
              <a:t>B.Tech Computer Science and Engineering
Course Code: BCSE497J – Project-I (Review 2)</a:t>
            </a:r>
          </a:p>
          <a:p>
            <a:pPr>
              <a:spcBef>
                <a:spcPts val="400"/>
              </a:spcBef>
            </a:pPr>
            <a:r>
              <a:rPr sz="2100" b="1">
                <a:solidFill>
                  <a:srgbClr val="003366"/>
                </a:solidFill>
                <a:latin typeface="Times New Roman"/>
              </a:rPr>
              <a:t>The Self-Auditing Ledger: Fraud Detection in ERP Systems Using Temporal Graph Topology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68BC382C-506F-4908-6AC3-C0AA73064F47}"/>
              </a:ext>
            </a:extLst>
          </p:cNvPr>
          <p:cNvSpPr txBox="1"/>
          <p:nvPr/>
        </p:nvSpPr>
        <p:spPr>
          <a:xfrm>
            <a:off x="2609088" y="3208471"/>
            <a:ext cx="7071360" cy="24608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1400" b="1">
                <a:solidFill>
                  <a:srgbClr val="003366"/>
                </a:solidFill>
                <a:latin typeface="Times New Roman"/>
              </a:rPr>
              <a:t>Team members:</a:t>
            </a:r>
            <a:endParaRPr sz="1800" dirty="0">
              <a:latin typeface="Times New Roman"/>
              <a:cs typeface="Times New Roman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1E1E1E"/>
                </a:solidFill>
                <a:latin typeface="Times New Roman"/>
              </a:rPr>
              <a:t>• Aarin Bhatta  (23BCE2329)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1E1E1E"/>
                </a:solidFill>
                <a:latin typeface="Times New Roman"/>
              </a:rPr>
              <a:t>• Himanshu Ray  (23BCE2335)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1E1E1E"/>
                </a:solidFill>
                <a:latin typeface="Times New Roman"/>
              </a:rPr>
              <a:t>• Mohammed Akif  (23BCE2349)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003366"/>
                </a:solidFill>
                <a:latin typeface="Times New Roman"/>
              </a:rPr>
              <a:t>Faculty guide:</a:t>
            </a:r>
          </a:p>
          <a:p>
            <a:r>
              <a:rPr sz="1200">
                <a:solidFill>
                  <a:srgbClr val="1E1E1E"/>
                </a:solidFill>
                <a:latin typeface="Times New Roman"/>
              </a:rPr>
              <a:t>Prof. Dhivya C.R.
Department of Computational Intelligence, SCOPE
Vellore Institute of Technology, Vellore</a:t>
            </a:r>
          </a:p>
        </p:txBody>
      </p:sp>
    </p:spTree>
    <p:extLst>
      <p:ext uri="{BB962C8B-B14F-4D97-AF65-F5344CB8AC3E}">
        <p14:creationId xmlns:p14="http://schemas.microsoft.com/office/powerpoint/2010/main" val="4243036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CBE13-A9D6-9564-DA47-597E38E0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 Mail From Guide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3367C-DAD6-6E34-D21A-A981C0944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00000"/>
            <a:ext cx="0" cy="600000"/>
          </a:xfrm>
        </p:spPr>
        <p:txBody>
          <a:bodyPr/>
          <a:lstStyle/>
          <a:p>
            <a:r>
              <a:rPr sz="1400" b="1">
                <a:solidFill>
                  <a:srgbClr val="003366"/>
                </a:solidFill>
                <a:latin typeface="Times New Roman"/>
              </a:rPr>
              <a:t>• Approval obtained from Faculty Guide (Prof. Dhivya C.R.) via official mail: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27C50-3ED3-2DB6-C227-6784C6CA9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000">
                <a:solidFill>
                  <a:srgbClr val="505050"/>
                </a:solidFill>
                <a:latin typeface="Times New Roman"/>
              </a:rPr>
              <a:t>09-09-2026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4170-792F-28F8-1C31-5F7A8D69F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6528B-72DB-0275-6A94-33ABB5CD7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2</a:t>
            </a:fld>
            <a:endParaRPr lang="en-IN"/>
          </a:p>
        </p:txBody>
      </p:sp>
      <p:pic>
        <p:nvPicPr>
          <p:cNvPr id="7" name="Picture 6" descr="guide_approval_em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963" y="2150000"/>
            <a:ext cx="8074187" cy="40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560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8A428-04DA-E6A8-7606-5D2FE5F31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1E1E1E"/>
                </a:solidFill>
                <a:latin typeface="Times New Roman"/>
              </a:rPr>
              <a:t>• Construct a continuous-time Temporal Shadow Graph directly from ERP transaction ledgers (SAP, BankSim, IBM AML) to model multi-party financial interactions with a unified account namespace.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1E1E1E"/>
                </a:solidFill>
                <a:latin typeface="Times New Roman"/>
              </a:rPr>
              <a:t>• Extract time-constrained topological fraud patterns (circular round-tripping, fan-in mule funnels, rapid layering chains) using strictly past-only graph traversals.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1E1E1E"/>
                </a:solidFill>
                <a:latin typeface="Times New Roman"/>
              </a:rPr>
              <a:t>• Build a robust hybrid detection pipeline combining cost-sensitive gradient boosted decision trees (XGBoost) and continuous-time Temporal Graph Networks (TGN).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1E1E1E"/>
                </a:solidFill>
                <a:latin typeface="Times New Roman"/>
              </a:rPr>
              <a:t>• Provide dual-layer forensic explainability by coupling quantitative TreeSHAP feature attributions with interactive Neo4j visual subgraphs for internal auditors.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1E1E1E"/>
                </a:solidFill>
                <a:latin typeface="Times New Roman"/>
              </a:rPr>
              <a:t>• Conduct honest, multi-seed ablation benchmarks across diverse graph density regimes without data leakage, verifying where graph structure truly adds value.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>
                <a:solidFill>
                  <a:srgbClr val="1E1E1E"/>
                </a:solidFill>
                <a:latin typeface="Times New Roman"/>
              </a:rPr>
              <a:t>• Formulate a privacy-preserving federated consensus mechanism (FedProx) enabling multi-bank collaborative defense without sharing raw proprietary financial data.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27305EA-516C-11F8-8A54-2BA046094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9E6AA7-AE20-8A91-BA42-261BF76A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000">
                <a:solidFill>
                  <a:srgbClr val="505050"/>
                </a:solidFill>
                <a:latin typeface="Times New Roman"/>
              </a:rPr>
              <a:t>09-09-2026</a:t>
            </a:r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FE434-77F0-B8BE-9198-66090332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D6A9DA-AEE9-F6FE-EFA8-0639631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518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D95E8-8D7C-F548-8B75-23C3B2B1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DED8F-1EBD-2E10-598E-0CA3F56F0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400"/>
              </a:spcBef>
              <a:spcAft>
                <a:spcPts val="500"/>
              </a:spcAft>
            </a:pPr>
            <a:r>
              <a:rPr sz="1200" b="1">
                <a:solidFill>
                  <a:srgbClr val="003366"/>
                </a:solidFill>
                <a:latin typeface="Times New Roman"/>
              </a:rPr>
              <a:t>• Context &amp; Motivation: </a:t>
            </a:r>
            <a:r>
              <a:rPr sz="1200">
                <a:solidFill>
                  <a:srgbClr val="1E1E1E"/>
                </a:solidFill>
                <a:latin typeface="Times New Roman"/>
              </a:rPr>
              <a:t>Enterprise Resource Planning (ERP) databases process billions of dollars in multi-party transactions where conventional row-level auditing fails to detect coordinated collusion, mule fan-in funnels, and circular round-tripping. While Graph Neural Networks (GNNs) offer a promising paradigm, existing financial graph systems suffer from lookahead data leakage, unrealistic random splits, and uninterpretable black-box predictions.</a:t>
            </a:r>
          </a:p>
          <a:p>
            <a:pPr>
              <a:spcBef>
                <a:spcPts val="400"/>
              </a:spcBef>
              <a:spcAft>
                <a:spcPts val="500"/>
              </a:spcAft>
            </a:pPr>
            <a:r>
              <a:rPr sz="1200" b="1">
                <a:solidFill>
                  <a:srgbClr val="003366"/>
                </a:solidFill>
                <a:latin typeface="Times New Roman"/>
              </a:rPr>
              <a:t>• Proposed Architecture: </a:t>
            </a:r>
            <a:r>
              <a:rPr sz="1200">
                <a:solidFill>
                  <a:srgbClr val="1E1E1E"/>
                </a:solidFill>
                <a:latin typeface="Times New Roman"/>
              </a:rPr>
              <a:t>We present The Self-Auditing Ledger, a leakage-free-by-construction research system. It ingests ERP transaction streams, maintains a dynamic directed bipartite graph, and computes streaming structural topology features (fan-in velocity, temporal in-degree, cycle indicators) with zero lookahead (t ≤ t_event). Risk probabilities are scored via cost-sensitive XGBoost and continuous-time TGN models with focal loss.</a:t>
            </a:r>
          </a:p>
          <a:p>
            <a:pPr>
              <a:spcBef>
                <a:spcPts val="400"/>
              </a:spcBef>
              <a:spcAft>
                <a:spcPts val="500"/>
              </a:spcAft>
            </a:pPr>
            <a:r>
              <a:rPr sz="1200" b="1">
                <a:solidFill>
                  <a:srgbClr val="003366"/>
                </a:solidFill>
                <a:latin typeface="Times New Roman"/>
              </a:rPr>
              <a:t>• Empirical Findings &amp; Contributions: </a:t>
            </a:r>
            <a:r>
              <a:rPr sz="1200">
                <a:solidFill>
                  <a:srgbClr val="1E1E1E"/>
                </a:solidFill>
                <a:latin typeface="Times New Roman"/>
              </a:rPr>
              <a:t>Validated across benchmark financial datasets (BankSim 595k, IBM AML 1.32M) over 3 random seeds. Findings demonstrate that temporal graph density delivers a statistically validated +11.7% PR-AUC improvement on relational transaction networks (champion reaches 0.936 PR-AUC with 1.00 Precision@100). The federated extension (FedProx) achieves 98.91% centralized performance parity with +5.93% lift, pairing alerts with exact TreeSHAP feature drivers and interactive Neo4j visual paths.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156C6ACB-BF9E-DB99-B99C-4896C65273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D067F-DF0A-3BD2-0B9E-C22E39B7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000">
                <a:solidFill>
                  <a:srgbClr val="505050"/>
                </a:solidFill>
                <a:latin typeface="Times New Roman"/>
              </a:rPr>
              <a:t>09-09-2026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FD8C3-C2D0-4BBB-7FD8-43FE2C08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9991A-41D4-F0AB-EF39-ACE70C81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097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0AE58-8206-476A-BECC-A1ADC0E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435FB437-6170-6BA2-1A38-A902855A3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056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13BC6E0-D294-E70D-8B27-13FBFEE5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000">
                <a:solidFill>
                  <a:srgbClr val="505050"/>
                </a:solidFill>
                <a:latin typeface="Times New Roman"/>
              </a:rPr>
              <a:t>09-09-2026</a:t>
            </a:r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F284BA2-3334-3EC1-0E81-4C90958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8F14EB-D02F-8EDE-87F4-A3F7E8D2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5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600000" y="1300000"/>
            <a:ext cx="10992000" cy="1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03366"/>
                </a:solidFill>
                <a:latin typeface="Times New Roman"/>
              </a:rPr>
              <a:t>We selected 12 recent papers across three main themes: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 b="1">
                <a:solidFill>
                  <a:srgbClr val="003366"/>
                </a:solidFill>
                <a:latin typeface="Times New Roman"/>
              </a:rPr>
              <a:t>1. GNN-based fraud detection (Papers 1, 2, 4, 7, 9, 10) — </a:t>
            </a:r>
            <a:r>
              <a:rPr sz="950">
                <a:solidFill>
                  <a:srgbClr val="1E1E1E"/>
                </a:solidFill>
                <a:latin typeface="Times New Roman"/>
              </a:rPr>
              <a:t>Learn latent graph representations for classification, but operate as opaque black boxes without explicit, auditable fraud topology extraction.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 b="1">
                <a:solidFill>
                  <a:srgbClr val="003366"/>
                </a:solidFill>
                <a:latin typeface="Times New Roman"/>
              </a:rPr>
              <a:t>2. Imbalance handling (Papers 3, 8) — </a:t>
            </a:r>
            <a:r>
              <a:rPr sz="950">
                <a:solidFill>
                  <a:srgbClr val="1E1E1E"/>
                </a:solidFill>
                <a:latin typeface="Times New Roman"/>
              </a:rPr>
              <a:t>Focus on synthetic data balancing (GANs, SMOTE) and quantum feature selection, but ignore structural fraud relationships in the transaction network.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 b="1">
                <a:solidFill>
                  <a:srgbClr val="003366"/>
                </a:solidFill>
                <a:latin typeface="Times New Roman"/>
              </a:rPr>
              <a:t>3. ERP and Audit studies (Papers 5, 11, 12) — </a:t>
            </a:r>
            <a:r>
              <a:rPr sz="950">
                <a:solidFill>
                  <a:srgbClr val="1E1E1E"/>
                </a:solidFill>
                <a:latin typeface="Times New Roman"/>
              </a:rPr>
              <a:t>Identify the necessity of continuous auditing in ERP systems, but provide no automated, streaming graph-based detection solution.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 b="1">
                <a:solidFill>
                  <a:srgbClr val="A01414"/>
                </a:solidFill>
                <a:latin typeface="Times New Roman"/>
              </a:rPr>
              <a:t>Common research gap: </a:t>
            </a:r>
            <a:r>
              <a:rPr sz="950">
                <a:solidFill>
                  <a:srgbClr val="1E1E1E"/>
                </a:solidFill>
                <a:latin typeface="Times New Roman"/>
              </a:rPr>
              <a:t>None extract interpretable fraud topologies from ERP transaction graphs or present verified suspicious money-flow paths as legal audit evidence.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00000" y="2650000"/>
          <a:ext cx="10992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0000"/>
                <a:gridCol w="2600000"/>
                <a:gridCol w="3300000"/>
                <a:gridCol w="4642000"/>
              </a:tblGrid>
              <a:tr h="27692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#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Authors (Year)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Method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Key Gap Our Work Addresses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E1E1E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E1E1E"/>
                          </a:solidFill>
                          <a:latin typeface="Times New Roman"/>
                        </a:rPr>
                        <a:t>Motie et al. (2024)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1E"/>
                          </a:solidFill>
                          <a:latin typeface="Times New Roman"/>
                        </a:rPr>
                        <a:t>GNN Systematic Review (R-GCN, GAT)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1E"/>
                          </a:solidFill>
                          <a:latin typeface="Times New Roman"/>
                        </a:rPr>
                        <a:t>No explicit topology detection; latent embedding opacity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E1E1E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E1E1E"/>
                          </a:solidFill>
                          <a:latin typeface="Times New Roman"/>
                        </a:rPr>
                        <a:t>Innan et al. (2024)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1E"/>
                          </a:solidFill>
                          <a:latin typeface="Times New Roman"/>
                        </a:rPr>
                        <a:t>Quantum GNN (QGNN)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1E"/>
                          </a:solidFill>
                          <a:latin typeface="Times New Roman"/>
                        </a:rPr>
                        <a:t>Not explainable; restricted to small simulation networks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E1E1E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E1E1E"/>
                          </a:solidFill>
                          <a:latin typeface="Times New Roman"/>
                        </a:rPr>
                        <a:t>Grossi et al. (2022)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1E"/>
                          </a:solidFill>
                          <a:latin typeface="Times New Roman"/>
                        </a:rPr>
                        <a:t>Quantum Feature + QSVM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1E"/>
                          </a:solidFill>
                          <a:latin typeface="Times New Roman"/>
                        </a:rPr>
                        <a:t>Feature selection only; completely ignores relational structure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E1E1E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E1E1E"/>
                          </a:solidFill>
                          <a:latin typeface="Times New Roman"/>
                        </a:rPr>
                        <a:t>Devi et al. (2025)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1E"/>
                          </a:solidFill>
                          <a:latin typeface="Times New Roman"/>
                        </a:rPr>
                        <a:t>RL-GNN + GAT Fusion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1E"/>
                          </a:solidFill>
                          <a:latin typeface="Times New Roman"/>
                        </a:rPr>
                        <a:t>Learns implicitly; lacks explicit named topology extraction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E1E1E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E1E1E"/>
                          </a:solidFill>
                          <a:latin typeface="Times New Roman"/>
                        </a:rPr>
                        <a:t>Jawad et al. (2024)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1E"/>
                          </a:solidFill>
                          <a:latin typeface="Times New Roman"/>
                        </a:rPr>
                        <a:t>ML-ERP Architecture Review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1E"/>
                          </a:solidFill>
                          <a:latin typeface="Times New Roman"/>
                        </a:rPr>
                        <a:t>Targets workflow optimisation, not forensic fraud detection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E1E1E"/>
                          </a:solidFill>
                          <a:latin typeface="Times New Roman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E1E1E"/>
                          </a:solidFill>
                          <a:latin typeface="Times New Roman"/>
                        </a:rPr>
                        <a:t>Yuan et al. (2025)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1E"/>
                          </a:solidFill>
                          <a:latin typeface="Times New Roman"/>
                        </a:rPr>
                        <a:t>GNN Anomaly Survey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1E"/>
                          </a:solidFill>
                          <a:latin typeface="Times New Roman"/>
                        </a:rPr>
                        <a:t>Broad anomaly focus; ignores ERP double-entry ledgers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E1E1E"/>
                          </a:solidFill>
                          <a:latin typeface="Times New Roman"/>
                        </a:rPr>
                        <a:t>7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E1E1E"/>
                          </a:solidFill>
                          <a:latin typeface="Times New Roman"/>
                        </a:rPr>
                        <a:t>Shi et al. (2026)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1E"/>
                          </a:solidFill>
                          <a:latin typeface="Times New Roman"/>
                        </a:rPr>
                        <a:t>ST-CGNN (Spatio-Temporal)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1E"/>
                          </a:solidFill>
                          <a:latin typeface="Times New Roman"/>
                        </a:rPr>
                        <a:t>Black-box embeddings; lack audit-grade path explainability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E1E1E"/>
                          </a:solidFill>
                          <a:latin typeface="Times New Roman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E1E1E"/>
                          </a:solidFill>
                          <a:latin typeface="Times New Roman"/>
                        </a:rPr>
                        <a:t>Zhi et al. (2025)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1E"/>
                          </a:solidFill>
                          <a:latin typeface="Times New Roman"/>
                        </a:rPr>
                        <a:t>EAC-GAN (Imbalance)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1E"/>
                          </a:solidFill>
                          <a:latin typeface="Times New Roman"/>
                        </a:rPr>
                        <a:t>Generates synthetic tabular samples; distorts graph topology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E1E1E"/>
                          </a:solidFill>
                          <a:latin typeface="Times New Roman"/>
                        </a:rPr>
                        <a:t>9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E1E1E"/>
                          </a:solidFill>
                          <a:latin typeface="Times New Roman"/>
                        </a:rPr>
                        <a:t>Tong et al. (2023)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1E"/>
                          </a:solidFill>
                          <a:latin typeface="Times New Roman"/>
                        </a:rPr>
                        <a:t>HHLN-GNN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1E"/>
                          </a:solidFill>
                          <a:latin typeface="Times New Roman"/>
                        </a:rPr>
                        <a:t>Latent representation-based; legally non-defensible in audits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E1E1E"/>
                          </a:solidFill>
                          <a:latin typeface="Times New Roman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E1E1E"/>
                          </a:solidFill>
                          <a:latin typeface="Times New Roman"/>
                        </a:rPr>
                        <a:t>Boyapati et al. (2025)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1E"/>
                          </a:solidFill>
                          <a:latin typeface="Times New Roman"/>
                        </a:rPr>
                        <a:t>BalancerGNN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1E"/>
                          </a:solidFill>
                          <a:latin typeface="Times New Roman"/>
                        </a:rPr>
                        <a:t>Focuses on graph loss reweighting; no ERP audit trails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E1E1E"/>
                          </a:solidFill>
                          <a:latin typeface="Times New Roman"/>
                        </a:rPr>
                        <a:t>11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E1E1E"/>
                          </a:solidFill>
                          <a:latin typeface="Times New Roman"/>
                        </a:rPr>
                        <a:t>Mamakou et al. (2024)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1E"/>
                          </a:solidFill>
                          <a:latin typeface="Times New Roman"/>
                        </a:rPr>
                        <a:t>ERP Evaluation &amp; Internal Controls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1E"/>
                          </a:solidFill>
                          <a:latin typeface="Times New Roman"/>
                        </a:rPr>
                        <a:t>Manual audit sampling misses &gt;95% of internal collusion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</a:tr>
              <a:tr h="276924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E1E1E"/>
                          </a:solidFill>
                          <a:latin typeface="Times New Roman"/>
                        </a:rP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E1E1E"/>
                          </a:solidFill>
                          <a:latin typeface="Times New Roman"/>
                        </a:rPr>
                        <a:t>Vasarhelyi et al. (2012)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1E"/>
                          </a:solidFill>
                          <a:latin typeface="Times New Roman"/>
                        </a:rPr>
                        <a:t>Continuous Auditing (CA) Framework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1E"/>
                          </a:solidFill>
                          <a:latin typeface="Times New Roman"/>
                        </a:rPr>
                        <a:t>Establishes CA theory; lacks automated graph detection system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7449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64C5E-26B3-2EE9-895A-F822E4C4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F8AC8-6380-9217-CA4C-1FBF1C25C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50000"/>
            <a:ext cx="0" cy="4750000"/>
          </a:xfrm>
        </p:spPr>
        <p:txBody>
          <a:bodyPr>
            <a:normAutofit/>
          </a:bodyPr>
          <a:lstStyle/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1300" b="1">
                <a:solidFill>
                  <a:srgbClr val="003366"/>
                </a:solidFill>
                <a:latin typeface="Times New Roman"/>
              </a:rPr>
              <a:t>1.  No explicit fraud topology extraction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150">
                <a:solidFill>
                  <a:srgbClr val="1E1E1E"/>
                </a:solidFill>
                <a:latin typeface="Times New Roman"/>
              </a:rPr>
              <a:t>Current GNN approaches learn hidden latent patterns for classification but don’t identify named fraud structures (cycles, fan-in hubs, lapping chains) as readable features. Auditors can’t trace a risk score back to a concrete suspicious money path.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1300" b="1">
                <a:solidFill>
                  <a:srgbClr val="003366"/>
                </a:solidFill>
                <a:latin typeface="Times New Roman"/>
              </a:rPr>
              <a:t>2.  No leakage-free evaluation in graph-based fraud detection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150">
                <a:solidFill>
                  <a:srgbClr val="1E1E1E"/>
                </a:solidFill>
                <a:latin typeface="Times New Roman"/>
              </a:rPr>
              <a:t>Prior systems — including our own predecessor — compute graph features using the entire dataset including future transactions, making test scores artificially high. No published work enforces a strictly past-only computation model with automated leakage testing.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1300" b="1">
                <a:solidFill>
                  <a:srgbClr val="003366"/>
                </a:solidFill>
                <a:latin typeface="Times New Roman"/>
              </a:rPr>
              <a:t>3.  No honest comparison of topology vs. tabular features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150">
                <a:solidFill>
                  <a:srgbClr val="1E1E1E"/>
                </a:solidFill>
                <a:latin typeface="Times New Roman"/>
              </a:rPr>
              <a:t>The claim that 'graph topology adds value' has never been tested with a clean experiment using the same time-based data split, a single imbalance fix, and proper rare-event metrics (PR-AUC) for extremely imbalanced financial data.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1300" b="1">
                <a:solidFill>
                  <a:srgbClr val="003366"/>
                </a:solidFill>
                <a:latin typeface="Times New Roman"/>
              </a:rPr>
              <a:t>4.  Limited ERP-domain application &amp; non-IID federation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150">
                <a:solidFill>
                  <a:srgbClr val="1E1E1E"/>
                </a:solidFill>
                <a:latin typeface="Times New Roman"/>
              </a:rPr>
              <a:t>Most graph-based fraud detection targets social networks or payment cards. Enterprise Resource Planning (ERP) ledgers (SAP, Oracle) with double-entry accounting remain unaddressed, while cross-institutional federation suffers from severe non-IID operational skew.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430A72-466B-CBDE-2F02-635BA91A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000">
                <a:solidFill>
                  <a:srgbClr val="505050"/>
                </a:solidFill>
                <a:latin typeface="Times New Roman"/>
              </a:rPr>
              <a:t>09-09-2026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1DDA3-7A7C-1F61-1795-3A01ED678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E3226-1DB1-3A4D-CE37-4A2AD48E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102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50AAC-0156-D6F5-7153-C7919999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3ADE1-559A-2DC2-A801-6A915E106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371600"/>
            <a:ext cx="10515600" cy="2500000"/>
          </a:xfrm>
        </p:spPr>
        <p:txBody>
          <a:bodyPr>
            <a:norm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1E1E1E"/>
                </a:solidFill>
                <a:latin typeface="Times New Roman"/>
              </a:rPr>
              <a:t>1.  Build a Temporal Shadow Graph from ERP transaction data, with a unified account namespace that makes structural patterns (cycles, chains) visible — fixing a critical identity-splitting bug in the predecessor.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1E1E1E"/>
                </a:solidFill>
                <a:latin typeface="Times New Roman"/>
              </a:rPr>
              <a:t>2.  Design a leakage-free Temporal Topology Engine that extracts structural fraud features (cycle detection, fan-in/fan-out density, lapping indicators) using strictly past-only streaming computation — with automated leakage tests as a safety gate.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1E1E1E"/>
                </a:solidFill>
                <a:latin typeface="Times New Roman"/>
              </a:rPr>
              <a:t>3.  Run a rigorous within-dataset ablation (baseline vs. baseline + topology) across four datasets spanning a range of graph richness (IBM AML, BankSim, SAP Würzburg, PaySim) — and report the result honestly, either way.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1E1E1E"/>
                </a:solidFill>
                <a:latin typeface="Times New Roman"/>
              </a:rPr>
              <a:t>4.  Produce explainable audit alerts combining SHAP feature explanations with the concrete suspicious graph path, shown in Neo4j — giving auditors both the reason and the evidence.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1E1E1E"/>
                </a:solidFill>
                <a:latin typeface="Times New Roman"/>
              </a:rPr>
              <a:t>5.  Formulate a privacy-preserving federated consensus mechanism (FedProx) enabling multi-bank collaborative defense without pooling proprietary transaction data.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2BADD22-870A-4D8F-B788-CCCD5C223F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E4F0EB-E8F1-14D8-E22A-38E83F9B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000">
                <a:solidFill>
                  <a:srgbClr val="505050"/>
                </a:solidFill>
                <a:latin typeface="Times New Roman"/>
              </a:rPr>
              <a:t>09-09-2026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8B93F-BA73-08B5-E0DD-D434FA25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ABF72-E9F9-626A-63CD-EA20C071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632EBB-2D05-8D00-7F98-43CBAFAF06ED}"/>
              </a:ext>
            </a:extLst>
          </p:cNvPr>
          <p:cNvSpPr txBox="1"/>
          <p:nvPr/>
        </p:nvSpPr>
        <p:spPr>
          <a:xfrm>
            <a:off x="515480" y="3964539"/>
            <a:ext cx="1152340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3366"/>
                </a:solidFill>
                <a:latin typeface="Times New Roman"/>
              </a:rPr>
              <a:t>Identified: Sustainable Development Goals   |   TECHNOLOGY READINESS LEVEL (TRL)   |   Projected Outcomes</a:t>
            </a:r>
          </a:p>
        </p:txBody>
      </p:sp>
      <p:pic>
        <p:nvPicPr>
          <p:cNvPr id="8" name="Picture 7" descr="3 The UN 17 Sustainable Development Goals (SDGs), implemented by all... | Download Scientific Diagram">
            <a:extLst>
              <a:ext uri="{FF2B5EF4-FFF2-40B4-BE49-F238E27FC236}">
                <a16:creationId xmlns:a16="http://schemas.microsoft.com/office/drawing/2014/main" id="{36180A9B-AA72-E2D6-8362-4CDF7058D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701" y="4778273"/>
            <a:ext cx="1968651" cy="1578077"/>
          </a:xfrm>
          <a:prstGeom prst="rect">
            <a:avLst/>
          </a:prstGeom>
        </p:spPr>
      </p:pic>
      <p:pic>
        <p:nvPicPr>
          <p:cNvPr id="9" name="Picture 8" descr="What are Technology Readiness Levels (TRL)? - TWI">
            <a:extLst>
              <a:ext uri="{FF2B5EF4-FFF2-40B4-BE49-F238E27FC236}">
                <a16:creationId xmlns:a16="http://schemas.microsoft.com/office/drawing/2014/main" id="{D1491C9C-07B3-89C3-5FA0-72C9F44F3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545" y="4413148"/>
            <a:ext cx="2447027" cy="223265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59448" y="4450000"/>
            <a:ext cx="411480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003366"/>
                </a:solidFill>
                <a:latin typeface="Times New Roman"/>
              </a:rPr>
              <a:t>• SDGs Mapped: </a:t>
            </a:r>
            <a:r>
              <a:rPr sz="1000">
                <a:solidFill>
                  <a:srgbClr val="1E1E1E"/>
                </a:solidFill>
                <a:latin typeface="Times New Roman"/>
              </a:rPr>
              <a:t>SDG 8 (Decent Work &amp; Growth), SDG 9 (Industry &amp; Innovation), SDG 16 (Peace, Justice &amp; Strong Institutions)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003366"/>
                </a:solidFill>
                <a:latin typeface="Times New Roman"/>
              </a:rPr>
              <a:t>• Current TRL: </a:t>
            </a:r>
            <a:r>
              <a:rPr sz="1000">
                <a:solidFill>
                  <a:srgbClr val="1E1E1E"/>
                </a:solidFill>
                <a:latin typeface="Times New Roman"/>
              </a:rPr>
              <a:t>TRL 6 - 7 (System prototype demonstrated in operational environment)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003366"/>
                </a:solidFill>
                <a:latin typeface="Times New Roman"/>
              </a:rPr>
              <a:t>• Target Outcomes: </a:t>
            </a:r>
            <a:r>
              <a:rPr sz="1000">
                <a:solidFill>
                  <a:srgbClr val="1E1E1E"/>
                </a:solidFill>
                <a:latin typeface="Times New Roman"/>
              </a:rPr>
              <a:t>• Scopus-Indexed Journal / Conference Publication
• Open-Source Forensic Auditing Package &amp; Live Tool</a:t>
            </a:r>
          </a:p>
        </p:txBody>
      </p:sp>
    </p:spTree>
    <p:extLst>
      <p:ext uri="{BB962C8B-B14F-4D97-AF65-F5344CB8AC3E}">
        <p14:creationId xmlns:p14="http://schemas.microsoft.com/office/powerpoint/2010/main" val="2335962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49C0F-2490-21B4-8186-6F75540A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5DE9EA00-8D77-8DC9-1AE3-8B6FD1AF6B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Framework/Architecture/Block Diagram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40592E-46EE-B4F2-7D01-D3568C2F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000">
                <a:solidFill>
                  <a:srgbClr val="505050"/>
                </a:solidFill>
                <a:latin typeface="Times New Roman"/>
              </a:rPr>
              <a:t>09-09-2026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DC439-5940-84EE-247A-E3018795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B23C8-7091-8CFB-BF2C-3A19CCA8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2560320" cy="3931920"/>
          </a:xfrm>
          <a:prstGeom prst="roundRect">
            <a:avLst/>
          </a:prstGeom>
          <a:solidFill>
            <a:srgbClr val="F0F4FA"/>
          </a:solidFill>
          <a:ln w="19050">
            <a:solidFill>
              <a:srgbClr val="B4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200" b="1">
                <a:solidFill>
                  <a:srgbClr val="003366"/>
                </a:solidFill>
                <a:latin typeface="Times New Roman"/>
              </a:rPr>
              <a:t>Stage 1: Ingestion &amp; Bipartite Projection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050">
                <a:solidFill>
                  <a:srgbClr val="1E1E1E"/>
                </a:solidFill>
                <a:latin typeface="Times New Roman"/>
              </a:rPr>
              <a:t>• Ingests raw ERP journals (SAP BKPF/BSEG, BankSim, IBM AML)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050">
                <a:solidFill>
                  <a:srgbClr val="1E1E1E"/>
                </a:solidFill>
                <a:latin typeface="Times New Roman"/>
              </a:rPr>
              <a:t>• Resolves disparate account identifiers into canonical bipartite graph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050">
                <a:solidFill>
                  <a:srgbClr val="1E1E1E"/>
                </a:solidFill>
                <a:latin typeface="Times New Roman"/>
              </a:rPr>
              <a:t>• Enforces chronological event queuing without lookahead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463040"/>
            <a:ext cx="2560320" cy="3931920"/>
          </a:xfrm>
          <a:prstGeom prst="roundRect">
            <a:avLst/>
          </a:prstGeom>
          <a:solidFill>
            <a:srgbClr val="F0F4FA"/>
          </a:solidFill>
          <a:ln w="19050">
            <a:solidFill>
              <a:srgbClr val="B4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200" b="1">
                <a:solidFill>
                  <a:srgbClr val="003366"/>
                </a:solidFill>
                <a:latin typeface="Times New Roman"/>
              </a:rPr>
              <a:t>Stage 2: Streaming Zero-Lookahead Topology Engine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050">
                <a:solidFill>
                  <a:srgbClr val="1E1E1E"/>
                </a:solidFill>
                <a:latin typeface="Times New Roman"/>
              </a:rPr>
              <a:t>• Streaming sliding-window graph (1h, 24h, 7d trailing windows)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050">
                <a:solidFill>
                  <a:srgbClr val="1E1E1E"/>
                </a:solidFill>
                <a:latin typeface="Times New Roman"/>
              </a:rPr>
              <a:t>• Dynamically computes in/out degree, fan-in ratio, and cycles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050">
                <a:solidFill>
                  <a:srgbClr val="1E1E1E"/>
                </a:solidFill>
                <a:latin typeface="Times New Roman"/>
              </a:rPr>
              <a:t>• Strict temporal invariance: k-th event invariant to future (k+1..N)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463040"/>
            <a:ext cx="2560320" cy="3931920"/>
          </a:xfrm>
          <a:prstGeom prst="roundRect">
            <a:avLst/>
          </a:prstGeom>
          <a:solidFill>
            <a:srgbClr val="F0F4FA"/>
          </a:solidFill>
          <a:ln w="19050">
            <a:solidFill>
              <a:srgbClr val="B4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200" b="1">
                <a:solidFill>
                  <a:srgbClr val="003366"/>
                </a:solidFill>
                <a:latin typeface="Times New Roman"/>
              </a:rPr>
              <a:t>Stage 3: Hybrid Modeling &amp; Representation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050">
                <a:solidFill>
                  <a:srgbClr val="1E1E1E"/>
                </a:solidFill>
                <a:latin typeface="Times New Roman"/>
              </a:rPr>
              <a:t>• Chronological train/val/test temporal splits (multi-seed)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050">
                <a:solidFill>
                  <a:srgbClr val="1E1E1E"/>
                </a:solidFill>
                <a:latin typeface="Times New Roman"/>
              </a:rPr>
              <a:t>• Cost-sensitive XGBoost with alpha-free focal loss &amp; Bayesian HPO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050">
                <a:solidFill>
                  <a:srgbClr val="1E1E1E"/>
                </a:solidFill>
                <a:latin typeface="Times New Roman"/>
              </a:rPr>
              <a:t>• Continuous-time Temporal Graph Network (TGN) dynamic GRU memory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463040"/>
            <a:ext cx="2560320" cy="3931920"/>
          </a:xfrm>
          <a:prstGeom prst="roundRect">
            <a:avLst/>
          </a:prstGeom>
          <a:solidFill>
            <a:srgbClr val="F0F4FA"/>
          </a:solidFill>
          <a:ln w="19050">
            <a:solidFill>
              <a:srgbClr val="B4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200" b="1">
                <a:solidFill>
                  <a:srgbClr val="003366"/>
                </a:solidFill>
                <a:latin typeface="Times New Roman"/>
              </a:rPr>
              <a:t>Stage 4: Dual-Layer Explainability &amp; Audit Dispatch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050">
                <a:solidFill>
                  <a:srgbClr val="1E1E1E"/>
                </a:solidFill>
                <a:latin typeface="Times New Roman"/>
              </a:rPr>
              <a:t>• Exact TreeSHAP local feature attribution breakdown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050">
                <a:solidFill>
                  <a:srgbClr val="1E1E1E"/>
                </a:solidFill>
                <a:latin typeface="Times New Roman"/>
              </a:rPr>
              <a:t>• Automated Cypher queries extracting 2-hop to 3-hop money paths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050">
                <a:solidFill>
                  <a:srgbClr val="1E1E1E"/>
                </a:solidFill>
                <a:latin typeface="Times New Roman"/>
              </a:rPr>
              <a:t>• Interactive Neo4j visual graph replay for statutory SOX auditors</a:t>
            </a:r>
          </a:p>
        </p:txBody>
      </p:sp>
    </p:spTree>
    <p:extLst>
      <p:ext uri="{BB962C8B-B14F-4D97-AF65-F5344CB8AC3E}">
        <p14:creationId xmlns:p14="http://schemas.microsoft.com/office/powerpoint/2010/main" val="63813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95AF1-B807-AC15-9C1A-B86677AF6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324FF-B70A-2FC0-8FD0-C802E31DD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50000"/>
            <a:ext cx="0" cy="4750000"/>
          </a:xfrm>
        </p:spPr>
        <p:txBody>
          <a:bodyPr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003366"/>
                </a:solidFill>
                <a:latin typeface="Times New Roman"/>
              </a:rPr>
              <a:t>Real-Time Transaction Ingestion: </a:t>
            </a:r>
            <a:r>
              <a:rPr sz="1150">
                <a:solidFill>
                  <a:srgbClr val="1E1E1E"/>
                </a:solidFill>
                <a:latin typeface="Times New Roman"/>
              </a:rPr>
              <a:t>Continuously accept ERP financial records and convert them into a live account-to-account network with unified entity namespaces.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003366"/>
                </a:solidFill>
                <a:latin typeface="Times New Roman"/>
              </a:rPr>
              <a:t>Past-Only Graph Feature Extraction: </a:t>
            </a:r>
            <a:r>
              <a:rPr sz="1150">
                <a:solidFill>
                  <a:srgbClr val="1E1E1E"/>
                </a:solidFill>
                <a:latin typeface="Times New Roman"/>
              </a:rPr>
              <a:t>Calculate network patterns (money-mule funnels, transaction bursts, circular flows) using strictly past data to prevent cheating/leakage.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003366"/>
                </a:solidFill>
                <a:latin typeface="Times New Roman"/>
              </a:rPr>
              <a:t>Automated Anti-Leakage Testing: </a:t>
            </a:r>
            <a:r>
              <a:rPr sz="1150">
                <a:solidFill>
                  <a:srgbClr val="1E1E1E"/>
                </a:solidFill>
                <a:latin typeface="Times New Roman"/>
              </a:rPr>
              <a:t>Automatically verify through invariance regression tests that future transactions never affect past transaction risk scores.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003366"/>
                </a:solidFill>
                <a:latin typeface="Times New Roman"/>
              </a:rPr>
              <a:t>Fraud Risk Scoring: </a:t>
            </a:r>
            <a:r>
              <a:rPr sz="1150">
                <a:solidFill>
                  <a:srgbClr val="1E1E1E"/>
                </a:solidFill>
                <a:latin typeface="Times New Roman"/>
              </a:rPr>
              <a:t>Predict calibrated risk scores (0% to 100%) for each transaction, optimized for highly imbalanced fraud data via alpha-free focal loss.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003366"/>
                </a:solidFill>
                <a:latin typeface="Times New Roman"/>
              </a:rPr>
              <a:t>Forensic Feature Explanations: </a:t>
            </a:r>
            <a:r>
              <a:rPr sz="1150">
                <a:solidFill>
                  <a:srgbClr val="1E1E1E"/>
                </a:solidFill>
                <a:latin typeface="Times New Roman"/>
              </a:rPr>
              <a:t>Clearly show which specific indicators (amount, speed, network shape) triggered each fraud alert via exact TreeSHAP attributions.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003366"/>
                </a:solidFill>
                <a:latin typeface="Times New Roman"/>
              </a:rPr>
              <a:t>Visual Money-Path Reconstruction: </a:t>
            </a:r>
            <a:r>
              <a:rPr sz="1150">
                <a:solidFill>
                  <a:srgbClr val="1E1E1E"/>
                </a:solidFill>
                <a:latin typeface="Times New Roman"/>
              </a:rPr>
              <a:t>Trace and display the suspicious chain of transfers in an interactive graph (Neo4j) for human auditors.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003366"/>
                </a:solidFill>
                <a:latin typeface="Times New Roman"/>
              </a:rPr>
              <a:t>Privacy-Preserving Federated Consensus: </a:t>
            </a:r>
            <a:r>
              <a:rPr sz="1150">
                <a:solidFill>
                  <a:srgbClr val="1E1E1E"/>
                </a:solidFill>
                <a:latin typeface="Times New Roman"/>
              </a:rPr>
              <a:t>Enable multi-bank collaborative risk scoring (FedProx) without pooling raw proprietary transaction data.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C9A0194-5820-F292-3A94-449C000E5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F25267-3005-EC45-A624-B78484DFA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000">
                <a:solidFill>
                  <a:srgbClr val="505050"/>
                </a:solidFill>
                <a:latin typeface="Times New Roman"/>
              </a:rPr>
              <a:t>09-09-2026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022FF-AD0C-E15E-5F17-B2827B55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D6198-8B2C-26FB-53D2-A5B87C95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299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2F2ED-50F9-3DFA-95BB-1A1059C5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F2560-A5FE-A724-8F39-E7E901E8F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50000"/>
            <a:ext cx="0" cy="4750000"/>
          </a:xfrm>
        </p:spPr>
        <p:txBody>
          <a:bodyPr>
            <a:norm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50" b="1">
                <a:solidFill>
                  <a:srgbClr val="003366"/>
                </a:solidFill>
                <a:latin typeface="Times New Roman"/>
              </a:rPr>
              <a:t>• Module 1: ETL &amp; Graph Representation (src/etl/, src/graph/) — </a:t>
            </a:r>
            <a:r>
              <a:rPr sz="1100">
                <a:solidFill>
                  <a:srgbClr val="1E1E1E"/>
                </a:solidFill>
                <a:latin typeface="Times New Roman"/>
              </a:rPr>
              <a:t>Ingests multi-source ERP logs, unifies entity namespaces across source/target accounts, builds directed multi-graphs, and synchronizes with Neo4j graph stores.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50" b="1">
                <a:solidFill>
                  <a:srgbClr val="003366"/>
                </a:solidFill>
                <a:latin typeface="Times New Roman"/>
              </a:rPr>
              <a:t>• Module 2: Streaming Zero-Lookahead Topology Engine (src/topology/) — </a:t>
            </a:r>
            <a:r>
              <a:rPr sz="1100">
                <a:solidFill>
                  <a:srgbClr val="1E1E1E"/>
                </a:solidFill>
                <a:latin typeface="Times New Roman"/>
              </a:rPr>
              <a:t>Sliding-window graph engine maintaining past-only state, computing streaming in/out-degree velocity, fan-in ratios, and memory-based lapping detectors.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50" b="1">
                <a:solidFill>
                  <a:srgbClr val="003366"/>
                </a:solidFill>
                <a:latin typeface="Times New Roman"/>
              </a:rPr>
              <a:t>• Module 3: Hybrid Classifier &amp; Temporal Representation (src/modeling/, src/modeling/tgn.py) — </a:t>
            </a:r>
            <a:r>
              <a:rPr sz="1100">
                <a:solidFill>
                  <a:srgbClr val="1E1E1E"/>
                </a:solidFill>
                <a:latin typeface="Times New Roman"/>
              </a:rPr>
              <a:t>Cost-sensitive XGBoost with alpha-free focal loss, Optuna Bayesian HPO, and continuous-time TGN embedding modules for joint tabular-graph learning.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50" b="1">
                <a:solidFill>
                  <a:srgbClr val="003366"/>
                </a:solidFill>
                <a:latin typeface="Times New Roman"/>
              </a:rPr>
              <a:t>• Module 4: Calibrated Synthetic ERP Simulator (src/synth/) — </a:t>
            </a:r>
            <a:r>
              <a:rPr sz="1100">
                <a:solidFill>
                  <a:srgbClr val="1E1E1E"/>
                </a:solidFill>
                <a:latin typeface="Times New Roman"/>
              </a:rPr>
              <a:t>Agent-based economic engine generating realistic enterprise business cycles and injecting behavior-driven fraud typologies for benchmarking.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50" b="1">
                <a:solidFill>
                  <a:srgbClr val="003366"/>
                </a:solidFill>
                <a:latin typeface="Times New Roman"/>
              </a:rPr>
              <a:t>• Module 5: Forensic Explainability &amp; Neo4j Visual Audit Dashboard (src/explainability/, demo/) — </a:t>
            </a:r>
            <a:r>
              <a:rPr sz="1100">
                <a:solidFill>
                  <a:srgbClr val="1E1E1E"/>
                </a:solidFill>
                <a:latin typeface="Times New Roman"/>
              </a:rPr>
              <a:t>Dual-engine alert dispatcher coupling TreeSHAP attributions with interactive SVG/D3 and Neo4j visual path replay.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50" b="1">
                <a:solidFill>
                  <a:srgbClr val="003366"/>
                </a:solidFill>
                <a:latin typeface="Times New Roman"/>
              </a:rPr>
              <a:t>• Module 6: Federated Consortium Engine (src/federated/) — </a:t>
            </a:r>
            <a:r>
              <a:rPr sz="1100">
                <a:solidFill>
                  <a:srgbClr val="1E1E1E"/>
                </a:solidFill>
                <a:latin typeface="Times New Roman"/>
              </a:rPr>
              <a:t>Multi-client simulation under non-IID Dirichlet distribution with FedProx reliability-weighted score-level consensus.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27DA514-48FC-4BF4-8205-DE21D456C5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4A04E0-6631-130F-A154-C85D978EA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000">
                <a:solidFill>
                  <a:srgbClr val="505050"/>
                </a:solidFill>
                <a:latin typeface="Times New Roman"/>
              </a:rPr>
              <a:t>09-09-2026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15995-EDEB-C984-B852-1229C23B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F5109-389C-3E37-E553-A559233E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870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556E8-0003-02C5-D37D-A5CC4CE44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and Results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000">
                <a:solidFill>
                  <a:srgbClr val="505050"/>
                </a:solidFill>
                <a:latin typeface="Times New Roman"/>
              </a:rPr>
              <a:t>09-09-2026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23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/>
                <a:gridCol w="1700000"/>
                <a:gridCol w="1900000"/>
                <a:gridCol w="1300000"/>
                <a:gridCol w="3464240"/>
              </a:tblGrid>
              <a:tr h="39166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Benchmark Dataset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Tabular Baseline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Baseline + Topology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PR-AUC Lift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Primary Scientific Signal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39166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E1E1E"/>
                          </a:solidFill>
                          <a:latin typeface="Times New Roman"/>
                        </a:rPr>
                        <a:t>BankSim (Relational Graph)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0.824 ± 0.003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0.921 ± 0.002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E1E1E"/>
                          </a:solidFill>
                          <a:latin typeface="Times New Roman"/>
                        </a:rPr>
                        <a:t>+11.7%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Strong structural signal; fan-in and degree velocity dominate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</a:tr>
              <a:tr h="39166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E1E1E"/>
                          </a:solidFill>
                          <a:latin typeface="Times New Roman"/>
                        </a:rPr>
                        <a:t>BankSim Final Champion (TGN)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0.787 ± 0.070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0.936 ± 0.002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+18.9%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Precision@100 = 1.00; collapses seed variance via focal loss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166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E1E1E"/>
                          </a:solidFill>
                          <a:latin typeface="Times New Roman"/>
                        </a:rPr>
                        <a:t>IBM AML (Amount-Saturated)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0.991 ± 0.001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0.993 ± 0.001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+0.2%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Baseline saturated by amount; +0.09 lift in amount-blind probe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</a:tr>
              <a:tr h="39166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E1E1E"/>
                          </a:solidFill>
                          <a:latin typeface="Times New Roman"/>
                        </a:rPr>
                        <a:t>Synthetic ERP (Controlled)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0.876 ± 0.004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0.942 ± 0.003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+7.5%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Circular money flows and structuring patterns clearly separated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167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E1E1E"/>
                          </a:solidFill>
                          <a:latin typeface="Times New Roman"/>
                        </a:rPr>
                        <a:t>Federated Consortium (K=4)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0.855 (Isolated)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0.914 (FedProx)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+5.93%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98.91% Centralized Parity; Zero private PII shared across banks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850000"/>
            <a:ext cx="11064240" cy="2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003366"/>
                </a:solidFill>
                <a:latin typeface="Times New Roman"/>
              </a:rPr>
              <a:t>• Structural Lift Validated: </a:t>
            </a:r>
            <a:r>
              <a:rPr sz="1050">
                <a:solidFill>
                  <a:srgbClr val="1E1E1E"/>
                </a:solidFill>
                <a:latin typeface="Times New Roman"/>
              </a:rPr>
              <a:t>Pure graph topology delivers a statistically validated +11.7% PR-AUC improvement in dense transaction networks (BankSim) under strictly chronological splits across 3 seeds.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003366"/>
                </a:solidFill>
                <a:latin typeface="Times New Roman"/>
              </a:rPr>
              <a:t>• Density is the Signal: </a:t>
            </a:r>
            <a:r>
              <a:rPr sz="1050">
                <a:solidFill>
                  <a:srgbClr val="1E1E1E"/>
                </a:solidFill>
                <a:latin typeface="Times New Roman"/>
              </a:rPr>
              <a:t>Simple temporal in-degree and fan-in velocity drive over 90% of topological predictive lift; complex cycle detectors are largely redundant with local density.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003366"/>
                </a:solidFill>
                <a:latin typeface="Times New Roman"/>
              </a:rPr>
              <a:t>• Amount-Blind Independence: </a:t>
            </a:r>
            <a:r>
              <a:rPr sz="1050">
                <a:solidFill>
                  <a:srgbClr val="1E1E1E"/>
                </a:solidFill>
                <a:latin typeface="Times New Roman"/>
              </a:rPr>
              <a:t>In amount-dominated environments (IBM AML), structural features provide a vital orthogonal signal (+0.09 PR-AUC) when transaction amounts are structured to evade thresholds.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003366"/>
                </a:solidFill>
                <a:latin typeface="Times New Roman"/>
              </a:rPr>
              <a:t>• Federated Consortium Lift: </a:t>
            </a:r>
            <a:r>
              <a:rPr sz="1050">
                <a:solidFill>
                  <a:srgbClr val="1E1E1E"/>
                </a:solidFill>
                <a:latin typeface="Times New Roman"/>
              </a:rPr>
              <a:t>FedProx score-level consensus recovers 98.91% of centralized detection power with +5.93% collaboration gain across heterogeneous banking clients without raw data sharing.</a:t>
            </a:r>
          </a:p>
        </p:txBody>
      </p:sp>
    </p:spTree>
    <p:extLst>
      <p:ext uri="{BB962C8B-B14F-4D97-AF65-F5344CB8AC3E}">
        <p14:creationId xmlns:p14="http://schemas.microsoft.com/office/powerpoint/2010/main" val="3666188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49A39-F362-DB35-B5DF-7E322AB9C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F33DD-84F0-A7F9-A1DC-A4DEA1A7D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50000"/>
            <a:ext cx="0" cy="4750000"/>
          </a:xfrm>
        </p:spPr>
        <p:txBody>
          <a:bodyPr>
            <a:norm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 b="1">
                <a:solidFill>
                  <a:srgbClr val="003366"/>
                </a:solidFill>
                <a:latin typeface="Times New Roman"/>
              </a:rPr>
              <a:t>• Scientific Rigor &amp; Leakage Elimination: </a:t>
            </a:r>
            <a:r>
              <a:rPr sz="1150">
                <a:solidFill>
                  <a:srgbClr val="1E1E1E"/>
                </a:solidFill>
                <a:latin typeface="Times New Roman"/>
              </a:rPr>
              <a:t>Disproved prior literature claims of &gt;99% GNN accuracy by proving they stemmed from lookahead leakage. Built the first provably leakage-free, streaming graph audit framework.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 b="1">
                <a:solidFill>
                  <a:srgbClr val="003366"/>
                </a:solidFill>
                <a:latin typeface="Times New Roman"/>
              </a:rPr>
              <a:t>• Defensible Empirical Value: </a:t>
            </a:r>
            <a:r>
              <a:rPr sz="1150">
                <a:solidFill>
                  <a:srgbClr val="1E1E1E"/>
                </a:solidFill>
                <a:latin typeface="Times New Roman"/>
              </a:rPr>
              <a:t>Confirmed that temporal graph topology provides statistically significant lift (+11.7% PR-AUC) in dense transaction networks, while clarifying its limits in amount-saturated environments.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 b="1">
                <a:solidFill>
                  <a:srgbClr val="003366"/>
                </a:solidFill>
                <a:latin typeface="Times New Roman"/>
              </a:rPr>
              <a:t>• Audit-Grade Human Explainability: </a:t>
            </a:r>
            <a:r>
              <a:rPr sz="1150">
                <a:solidFill>
                  <a:srgbClr val="1E1E1E"/>
                </a:solidFill>
                <a:latin typeface="Times New Roman"/>
              </a:rPr>
              <a:t>Eliminated the deep learning 'black box' by marrying quantitative TreeSHAP waterfall values with visual Neo4j graph subgraphs, satisfying enterprise regulatory standards (SOX, Basel III).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 b="1">
                <a:solidFill>
                  <a:srgbClr val="003366"/>
                </a:solidFill>
                <a:latin typeface="Times New Roman"/>
              </a:rPr>
              <a:t>• Privacy-Preserving Federation: </a:t>
            </a:r>
            <a:r>
              <a:rPr sz="1150">
                <a:solidFill>
                  <a:srgbClr val="1E1E1E"/>
                </a:solidFill>
                <a:latin typeface="Times New Roman"/>
              </a:rPr>
              <a:t>Demonstrated multi-bank collaborative defense via FedProx score-level consensus, recovering 98.91% of centralized performance without sharing raw customer financial data.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 b="1">
                <a:solidFill>
                  <a:srgbClr val="003366"/>
                </a:solidFill>
                <a:latin typeface="Times New Roman"/>
              </a:rPr>
              <a:t>• Enterprise Simulation &amp; Operational Readiness: </a:t>
            </a:r>
            <a:r>
              <a:rPr sz="1150">
                <a:solidFill>
                  <a:srgbClr val="1E1E1E"/>
                </a:solidFill>
                <a:latin typeface="Times New Roman"/>
              </a:rPr>
              <a:t>Built a calibrated synthetic ERP engine and achieved sub-second streaming inference latency, delivering an end-to-end prototype ready for enterprise deployment.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754A46F-4AC3-5AF1-0B78-C0B5112BD1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BAA61-633E-E24B-7DEE-4B2A2B1FA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000">
                <a:solidFill>
                  <a:srgbClr val="505050"/>
                </a:solidFill>
                <a:latin typeface="Times New Roman"/>
              </a:rPr>
              <a:t>09-09-2026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3C553-2D0C-5A0A-39DC-21C43BD88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7A7E9-45BE-62F4-D3A6-F19DC6ABE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498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0E1A0-FA4A-8258-6E10-9F00EDC0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7CFC0C65-61CC-E657-43F7-99C8E53624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C4F09CD-956A-B8B3-1183-9C28C80DDB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1729" y="1204732"/>
            <a:ext cx="10515600" cy="4811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sz="1000">
                <a:solidFill>
                  <a:srgbClr val="1E1E1E"/>
                </a:solidFill>
                <a:latin typeface="Times New Roman"/>
              </a:rPr>
              <a:t>[1]  S. Motie and B. Raahemi, "Financial fraud detection using graph neural networks: A systematic review," Expert Syst. Appl., vol. 240, Apr. 2024.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E1E1E"/>
                </a:solidFill>
                <a:latin typeface="Times New Roman"/>
              </a:rPr>
              <a:t>[2]  N. Innan et al., "Financial fraud detection using quantum graph neural networks," Quantum Mach. Intell., vol. 6, no. 1, Feb. 2024.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E1E1E"/>
                </a:solidFill>
                <a:latin typeface="Times New Roman"/>
              </a:rPr>
              <a:t>[3]  M. Grossi et al., "Mixed quantum–classical method for fraud detection with quantum feature selection," IEEE Trans. Quantum Eng., vol. 3, 2022.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E1E1E"/>
                </a:solidFill>
                <a:latin typeface="Times New Roman"/>
              </a:rPr>
              <a:t>[4]  R. R. Devi, J. E. Raja, and Y. B. Chin, "RL-GNN fusion for real-time financial fraud detection," Sci. Rep., vol. 15, no. 1, 2025.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E1E1E"/>
                </a:solidFill>
                <a:latin typeface="Times New Roman"/>
              </a:rPr>
              <a:t>[5]  Z. N. Jawad et al., "ML-driven optimization of ERP systems: A comprehensive review," Discov. Artif. Intell., vol. 4, 2024.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E1E1E"/>
                </a:solidFill>
                <a:latin typeface="Times New Roman"/>
              </a:rPr>
              <a:t>[6]  Z. Yuan et al., "A comprehensive survey on GNN-based anomaly detection," ACM Comput. Surv., 2025.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E1E1E"/>
                </a:solidFill>
                <a:latin typeface="Times New Roman"/>
              </a:rPr>
              <a:t>[7]  Y. Shi et al., "Uncertainty-aware spatio-temporal contrastive GNNs for financial fraud detection," in Proc. AAAI, 2026.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E1E1E"/>
                </a:solidFill>
                <a:latin typeface="Times New Roman"/>
              </a:rPr>
              <a:t>[8]  L. Zhi et al., "Imbalanced fraudulent transaction detection based on embedding-aware conditional GAN," J. Big Data, vol. 12, 2025.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E1E1E"/>
                </a:solidFill>
                <a:latin typeface="Times New Roman"/>
              </a:rPr>
              <a:t>[9]  G. Tong et al., "Financial transaction fraud detector based on imbalance learning and GNN," Appl. Intell., vol. 53, 2023.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E1E1E"/>
                </a:solidFill>
                <a:latin typeface="Times New Roman"/>
              </a:rPr>
              <a:t>[10] M. Boyapati et al., "BalancerGNN: Balancer GNNs for imbalanced datasets," IEEE Access, vol. 13, 2025.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E1E1E"/>
                </a:solidFill>
                <a:latin typeface="Times New Roman"/>
              </a:rPr>
              <a:t>[11] X. J. Mamakou et al., "Post-implementation evaluation of ERP systems: An internal auditors’ perspective," Inf. Syst. Manag., 2024.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E1E1E"/>
                </a:solidFill>
                <a:latin typeface="Times New Roman"/>
              </a:rPr>
              <a:t>[12] M. A. Vasarhelyi et al., "The acceptance and adoption of continuous auditing by internal auditors," Int. J. Account. Inf. Syst., vol. 13, no. 3, pp. 267–281, 2012.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2D3DB-7149-E1E5-D5F9-4FC93A78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000">
                <a:solidFill>
                  <a:srgbClr val="505050"/>
                </a:solidFill>
                <a:latin typeface="Times New Roman"/>
              </a:rPr>
              <a:t>09-09-2026</a:t>
            </a:r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CABB1-7C63-52E3-2815-3651AE7E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1EAEC-BCE3-2979-69C6-273309B9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526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273</Words>
  <Application>Microsoft Office PowerPoint</Application>
  <PresentationFormat>Widescreen</PresentationFormat>
  <Paragraphs>78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&lt;&lt;Programme B.Tech/ M.Tech Course Code – Course Title&gt;&gt; &lt;&lt;Project Title&gt;&gt;</vt:lpstr>
      <vt:lpstr>Approval Mail From Guide</vt:lpstr>
      <vt:lpstr>Aim</vt:lpstr>
      <vt:lpstr>Abstract</vt:lpstr>
      <vt:lpstr>Literature Review</vt:lpstr>
      <vt:lpstr>Research Gap</vt:lpstr>
      <vt:lpstr>Objectives</vt:lpstr>
      <vt:lpstr>Framework/Architecture/Block Diagram</vt:lpstr>
      <vt:lpstr>Functional Requirements</vt:lpstr>
      <vt:lpstr>Modules</vt:lpstr>
      <vt:lpstr>Experiments and Results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Parthasarathy G</dc:creator>
  <cp:lastModifiedBy>Parthasarathy G</cp:lastModifiedBy>
  <cp:revision>5</cp:revision>
  <dcterms:created xsi:type="dcterms:W3CDTF">2026-07-14T06:00:41Z</dcterms:created>
  <dcterms:modified xsi:type="dcterms:W3CDTF">2026-08-22T10:32:54Z</dcterms:modified>
</cp:coreProperties>
</file>